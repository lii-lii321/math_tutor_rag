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9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2563E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37960" y="128016"/>
            <a:ext cx="2606040" cy="5015484"/>
          </a:xfrm>
          <a:prstGeom prst="rect">
            <a:avLst/>
          </a:prstGeom>
          <a:solidFill>
            <a:srgbClr val="0F1F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223760" y="1051560"/>
            <a:ext cx="1234440" cy="45720"/>
          </a:xfrm>
          <a:prstGeom prst="rect">
            <a:avLst/>
          </a:prstGeom>
          <a:solidFill>
            <a:srgbClr val="2C5A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223760" y="1234440"/>
            <a:ext cx="685800" cy="45720"/>
          </a:xfrm>
          <a:prstGeom prst="rect">
            <a:avLst/>
          </a:prstGeom>
          <a:solidFill>
            <a:srgbClr val="2C5A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" y="777240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2563E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7772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216152" y="777240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MathMaster Edu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85800" y="1691640"/>
            <a:ext cx="5577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界面重设计方案</a:t>
            </a:r>
            <a:endParaRPr lang="en-US" sz="5000" dirty="0"/>
          </a:p>
        </p:txBody>
      </p:sp>
      <p:sp>
        <p:nvSpPr>
          <p:cNvPr id="10" name="Text 8"/>
          <p:cNvSpPr/>
          <p:nvPr/>
        </p:nvSpPr>
        <p:spPr>
          <a:xfrm>
            <a:off x="685800" y="2578608"/>
            <a:ext cx="5577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8FB4D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从功能平铺走向任务驱动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685800" y="3154680"/>
            <a:ext cx="502920" cy="41148"/>
          </a:xfrm>
          <a:prstGeom prst="rect">
            <a:avLst/>
          </a:prstGeom>
          <a:solidFill>
            <a:srgbClr val="2563E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3364992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BCD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一次针对信息架构 / 视觉层级 / 交互密度的整体重做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85800" y="416052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80" kern="0" dirty="0">
                <a:solidFill>
                  <a:srgbClr val="5E7F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版本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85800" y="4352544"/>
            <a:ext cx="1389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D6E2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v1.0 设计稿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130552" y="416052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80" kern="0" dirty="0">
                <a:solidFill>
                  <a:srgbClr val="5E7F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日期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2130552" y="4352544"/>
            <a:ext cx="1389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D6E2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2026-10-01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575304" y="416052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80" kern="0" dirty="0">
                <a:solidFill>
                  <a:srgbClr val="5E7F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范围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575304" y="4352544"/>
            <a:ext cx="1389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D6E2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核心页 + 设计系统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020056" y="416052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80" kern="0" dirty="0">
                <a:solidFill>
                  <a:srgbClr val="5E7F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状态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020056" y="4352544"/>
            <a:ext cx="1389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D6E2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待评审 / 未落代码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7223760" y="169164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4600" dirty="0"/>
          </a:p>
        </p:txBody>
      </p:sp>
      <p:sp>
        <p:nvSpPr>
          <p:cNvPr id="22" name="Text 20"/>
          <p:cNvSpPr/>
          <p:nvPr/>
        </p:nvSpPr>
        <p:spPr>
          <a:xfrm>
            <a:off x="7223760" y="2304288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B4D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个页面重新设计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7223760" y="274320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4600" dirty="0"/>
          </a:p>
        </p:txBody>
      </p:sp>
      <p:sp>
        <p:nvSpPr>
          <p:cNvPr id="24" name="Text 22"/>
          <p:cNvSpPr/>
          <p:nvPr/>
        </p:nvSpPr>
        <p:spPr>
          <a:xfrm>
            <a:off x="7223760" y="3355848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B4D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个 P0 体验事故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7223760" y="3767328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3E7B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4600" dirty="0"/>
          </a:p>
        </p:txBody>
      </p:sp>
      <p:sp>
        <p:nvSpPr>
          <p:cNvPr id="26" name="Text 24"/>
          <p:cNvSpPr/>
          <p:nvPr/>
        </p:nvSpPr>
        <p:spPr>
          <a:xfrm>
            <a:off x="7223760" y="4379976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B4D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批落地路径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82296" cy="18288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621792" y="27432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2563E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CONTENTS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02920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629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目录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457200" y="93268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四个部分, 从现状到成品再到落地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463040"/>
            <a:ext cx="566928" cy="658368"/>
          </a:xfrm>
          <a:prstGeom prst="rect">
            <a:avLst/>
          </a:prstGeom>
          <a:solidFill>
            <a:srgbClr val="1629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463040"/>
            <a:ext cx="5669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1097280" y="1463040"/>
            <a:ext cx="507492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12700" dir="5400000">
              <a:srgbClr val="1F2937">
                <a:alpha val="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1298448" y="1545336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9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项目与现状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298448" y="181051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现状速览 / 能力全景 / 问题诊断 / 现状实拍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263640" y="1463040"/>
            <a:ext cx="548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P3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2304288"/>
            <a:ext cx="566928" cy="658368"/>
          </a:xfrm>
          <a:prstGeom prst="rect">
            <a:avLst/>
          </a:prstGeom>
          <a:solidFill>
            <a:srgbClr val="1629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2304288"/>
            <a:ext cx="5669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1097280" y="2304288"/>
            <a:ext cx="507492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12700" dir="5400000">
              <a:srgbClr val="1F2937">
                <a:alpha val="6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1298448" y="238658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9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设计原则与系统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298448" y="2651760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四条原则 / 色彩 token / 跨页基建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263640" y="2304288"/>
            <a:ext cx="548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P12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3145536"/>
            <a:ext cx="566928" cy="658368"/>
          </a:xfrm>
          <a:prstGeom prst="rect">
            <a:avLst/>
          </a:prstGeom>
          <a:solidFill>
            <a:srgbClr val="1629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3145536"/>
            <a:ext cx="5669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1097280" y="3145536"/>
            <a:ext cx="507492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12700" dir="5400000">
              <a:srgbClr val="1F2937">
                <a:alpha val="6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1298448" y="322783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9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成品设计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298448" y="3493008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四页高保真 / 侧边栏前后对比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263640" y="3145536"/>
            <a:ext cx="548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P16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57200" y="3986784"/>
            <a:ext cx="566928" cy="658368"/>
          </a:xfrm>
          <a:prstGeom prst="rect">
            <a:avLst/>
          </a:prstGeom>
          <a:solidFill>
            <a:srgbClr val="1629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7200" y="3986784"/>
            <a:ext cx="5669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000" dirty="0"/>
          </a:p>
        </p:txBody>
      </p:sp>
      <p:sp>
        <p:nvSpPr>
          <p:cNvPr id="26" name="Shape 24"/>
          <p:cNvSpPr/>
          <p:nvPr/>
        </p:nvSpPr>
        <p:spPr>
          <a:xfrm>
            <a:off x="1097280" y="3986784"/>
            <a:ext cx="507492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12700" dir="5400000">
              <a:srgbClr val="1F2937">
                <a:alpha val="6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1298448" y="40690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9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落地路径与风险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1298448" y="4334256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六批路径 / 风险与边界 / 下一步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6263640" y="3986784"/>
            <a:ext cx="548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P22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7040880" y="1463040"/>
            <a:ext cx="1645920" cy="31089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12700" dir="5400000">
              <a:srgbClr val="1F2937">
                <a:alpha val="6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7040880" y="1463040"/>
            <a:ext cx="164592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223760" y="1664208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9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本次范围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7223760" y="2121408"/>
            <a:ext cx="64008" cy="6400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4" name="Text 32"/>
          <p:cNvSpPr/>
          <p:nvPr/>
        </p:nvSpPr>
        <p:spPr>
          <a:xfrm>
            <a:off x="7379208" y="203911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保留 MUJI 配色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7223760" y="2578608"/>
            <a:ext cx="64008" cy="6400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6" name="Text 34"/>
          <p:cNvSpPr/>
          <p:nvPr/>
        </p:nvSpPr>
        <p:spPr>
          <a:xfrm>
            <a:off x="7379208" y="249631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重做信息层级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7223760" y="3035808"/>
            <a:ext cx="64008" cy="6400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8" name="Text 36"/>
          <p:cNvSpPr/>
          <p:nvPr/>
        </p:nvSpPr>
        <p:spPr>
          <a:xfrm>
            <a:off x="7379208" y="295351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新增错误边界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7223760" y="3493008"/>
            <a:ext cx="64008" cy="6400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40" name="Text 38"/>
          <p:cNvSpPr/>
          <p:nvPr/>
        </p:nvSpPr>
        <p:spPr>
          <a:xfrm>
            <a:off x="7379208" y="341071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收敛组件原语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7223760" y="3950208"/>
            <a:ext cx="64008" cy="6400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42" name="Text 40"/>
          <p:cNvSpPr/>
          <p:nvPr/>
        </p:nvSpPr>
        <p:spPr>
          <a:xfrm>
            <a:off x="7379208" y="386791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不改后端契约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8503920" y="4663440"/>
            <a:ext cx="384048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503920" y="4663440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629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926080" cy="5143500"/>
          </a:xfrm>
          <a:prstGeom prst="rect">
            <a:avLst/>
          </a:prstGeom>
          <a:solidFill>
            <a:srgbClr val="0F1F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73736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2C5A9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9600" dirty="0"/>
          </a:p>
        </p:txBody>
      </p:sp>
      <p:sp>
        <p:nvSpPr>
          <p:cNvPr id="4" name="Text 2"/>
          <p:cNvSpPr/>
          <p:nvPr/>
        </p:nvSpPr>
        <p:spPr>
          <a:xfrm>
            <a:off x="3383280" y="1965960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项目与现状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3383280" y="2606040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A9BCD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一个功能密度很高, 但界面层级没有跟上产品演进的全栈项目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8503920" y="4663440"/>
            <a:ext cx="384048" cy="256032"/>
          </a:xfrm>
          <a:prstGeom prst="rect">
            <a:avLst/>
          </a:prstGeom>
          <a:solidFill>
            <a:srgbClr val="0F1F3A"/>
          </a:solidFill>
          <a:ln w="9525">
            <a:solidFill>
              <a:srgbClr val="2C5A9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03920" y="4663440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FB4D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82296" cy="18288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621792" y="27432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2563E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 PROJECT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02920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629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项目速览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457200" y="93268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分层清晰, 测试扎实 -- 问题不在架构, 而在界面层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371600"/>
            <a:ext cx="484632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371600"/>
            <a:ext cx="64008" cy="566928"/>
          </a:xfrm>
          <a:prstGeom prst="rect">
            <a:avLst/>
          </a:prstGeom>
          <a:solidFill>
            <a:srgbClr val="1629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1444752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29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frontend/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58368" y="1645920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Streamlit 界面层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2606040" y="1371600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 个页面 + 公共组件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2029968"/>
            <a:ext cx="484632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2029968"/>
            <a:ext cx="64008" cy="566928"/>
          </a:xfrm>
          <a:prstGeom prst="rect">
            <a:avLst/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8368" y="2103120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29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api/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658368" y="2304288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FastAPI 网关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2606040" y="2029968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JWT 认证 / RBAC / 限流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2688336"/>
            <a:ext cx="484632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200" y="2688336"/>
            <a:ext cx="64008" cy="566928"/>
          </a:xfrm>
          <a:prstGeom prst="rect">
            <a:avLst/>
          </a:prstGeom>
          <a:solidFill>
            <a:srgbClr val="2C5A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8368" y="2761488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29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backend/services/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58368" y="2962656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应用服务层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2606040" y="2688336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QuestionService 七领域 Mixin + Agent + Job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3346704"/>
            <a:ext cx="484632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57200" y="3346704"/>
            <a:ext cx="64008" cy="566928"/>
          </a:xfrm>
          <a:prstGeom prst="rect">
            <a:avLst/>
          </a:prstGeom>
          <a:solidFill>
            <a:srgbClr val="3E7B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8368" y="3419856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29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backend/repositories/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658368" y="3621024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数据访问层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2606040" y="3346704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用户 / 错题 / 统计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57200" y="4005072"/>
            <a:ext cx="484632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57200" y="4005072"/>
            <a:ext cx="64008" cy="566928"/>
          </a:xfrm>
          <a:prstGeom prst="rect">
            <a:avLst/>
          </a:prstGeom>
          <a:solidFill>
            <a:srgbClr val="7FA8E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58368" y="4078224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29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backend/models/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658368" y="4279392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ORM 与契约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2606040" y="4005072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SQLAlchemy 2.0 + Pydantic Schema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57200" y="4681728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数据层: SQLAlchemy ORM + ChromaDB 向量库 + 本地图片存储 + 可选 Redis 队列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5623560" y="1371600"/>
            <a:ext cx="1005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29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358</a:t>
            </a:r>
            <a:endParaRPr lang="en-US" sz="2600" dirty="0"/>
          </a:p>
        </p:txBody>
      </p:sp>
      <p:sp>
        <p:nvSpPr>
          <p:cNvPr id="33" name="Text 31"/>
          <p:cNvSpPr/>
          <p:nvPr/>
        </p:nvSpPr>
        <p:spPr>
          <a:xfrm>
            <a:off x="5623560" y="1883664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pytest 用例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675120" y="1371600"/>
            <a:ext cx="1005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29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79%</a:t>
            </a:r>
            <a:endParaRPr lang="en-US" sz="2600" dirty="0"/>
          </a:p>
        </p:txBody>
      </p:sp>
      <p:sp>
        <p:nvSpPr>
          <p:cNvPr id="35" name="Text 33"/>
          <p:cNvSpPr/>
          <p:nvPr/>
        </p:nvSpPr>
        <p:spPr>
          <a:xfrm>
            <a:off x="6675120" y="1883664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覆盖率 (无门禁)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726680" y="1371600"/>
            <a:ext cx="1005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29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147</a:t>
            </a:r>
            <a:endParaRPr lang="en-US" sz="2600" dirty="0"/>
          </a:p>
        </p:txBody>
      </p:sp>
      <p:sp>
        <p:nvSpPr>
          <p:cNvPr id="37" name="Text 35"/>
          <p:cNvSpPr/>
          <p:nvPr/>
        </p:nvSpPr>
        <p:spPr>
          <a:xfrm>
            <a:off x="7726680" y="1883664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Git 提交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5623560" y="2542032"/>
            <a:ext cx="1005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29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2600" dirty="0"/>
          </a:p>
        </p:txBody>
      </p:sp>
      <p:sp>
        <p:nvSpPr>
          <p:cNvPr id="39" name="Text 37"/>
          <p:cNvSpPr/>
          <p:nvPr/>
        </p:nvSpPr>
        <p:spPr>
          <a:xfrm>
            <a:off x="5623560" y="3054096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Alembic 迁移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6675120" y="2542032"/>
            <a:ext cx="1005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29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2600" dirty="0"/>
          </a:p>
        </p:txBody>
      </p:sp>
      <p:sp>
        <p:nvSpPr>
          <p:cNvPr id="41" name="Text 39"/>
          <p:cNvSpPr/>
          <p:nvPr/>
        </p:nvSpPr>
        <p:spPr>
          <a:xfrm>
            <a:off x="6675120" y="3054096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工具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7726680" y="2542032"/>
            <a:ext cx="1005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29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600" dirty="0"/>
          </a:p>
        </p:txBody>
      </p:sp>
      <p:sp>
        <p:nvSpPr>
          <p:cNvPr id="43" name="Text 41"/>
          <p:cNvSpPr/>
          <p:nvPr/>
        </p:nvSpPr>
        <p:spPr>
          <a:xfrm>
            <a:off x="7726680" y="3054096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CI job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532120" y="3767328"/>
            <a:ext cx="2880360" cy="1133856"/>
          </a:xfrm>
          <a:prstGeom prst="roundRect">
            <a:avLst>
              <a:gd name="adj" fmla="val 4839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12700" dir="5400000">
              <a:srgbClr val="1F2937">
                <a:alpha val="6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5532120" y="3767328"/>
            <a:ext cx="2880360" cy="54864"/>
          </a:xfrm>
          <a:prstGeom prst="rect">
            <a:avLst/>
          </a:prstGeom>
          <a:solidFill>
            <a:srgbClr val="D9770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715000" y="3913632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770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一个需要先对齐的事实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5715000" y="4151376"/>
            <a:ext cx="25603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README 声称覆盖率约 90%, 实测 79% 且无门禁. 前端层零单测, 仅靠 5 条 E2E 冒烟.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8503920" y="4663440"/>
            <a:ext cx="384048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503920" y="4663440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82296" cy="18288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621792" y="27432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2563E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 PRODUCT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02920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629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产品能力全景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457200" y="93268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功能已经很完整 -- 这正是界面承压的原因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353312"/>
            <a:ext cx="2514600" cy="1609344"/>
          </a:xfrm>
          <a:prstGeom prst="roundRect">
            <a:avLst>
              <a:gd name="adj" fmla="val 3409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12700" dir="5400000">
              <a:srgbClr val="1F2937">
                <a:alpha val="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353312"/>
            <a:ext cx="2514600" cy="45720"/>
          </a:xfrm>
          <a:prstGeom prst="rect">
            <a:avLst/>
          </a:prstGeom>
          <a:solidFill>
            <a:srgbClr val="2563E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21792" y="1481328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87552" y="1472184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9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录题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40080" y="1856232"/>
            <a:ext cx="45720" cy="45720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11" name="Text 9"/>
          <p:cNvSpPr/>
          <p:nvPr/>
        </p:nvSpPr>
        <p:spPr>
          <a:xfrm>
            <a:off x="758952" y="1773936"/>
            <a:ext cx="20665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82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多提供商抽象: SiliconFlow / 通义 / GLM / DeepSeek / Ollama / Gemini</a:t>
            </a:r>
            <a:endParaRPr lang="en-US" sz="820" dirty="0"/>
          </a:p>
        </p:txBody>
      </p:sp>
      <p:sp>
        <p:nvSpPr>
          <p:cNvPr id="12" name="Shape 10"/>
          <p:cNvSpPr/>
          <p:nvPr/>
        </p:nvSpPr>
        <p:spPr>
          <a:xfrm>
            <a:off x="640080" y="2130552"/>
            <a:ext cx="45720" cy="45720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13" name="Text 11"/>
          <p:cNvSpPr/>
          <p:nvPr/>
        </p:nvSpPr>
        <p:spPr>
          <a:xfrm>
            <a:off x="758952" y="2048256"/>
            <a:ext cx="20665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82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Pydantic Schema 约束结构化输出, 三级兜底解析</a:t>
            </a:r>
            <a:endParaRPr lang="en-US" sz="820" dirty="0"/>
          </a:p>
        </p:txBody>
      </p:sp>
      <p:sp>
        <p:nvSpPr>
          <p:cNvPr id="14" name="Shape 12"/>
          <p:cNvSpPr/>
          <p:nvPr/>
        </p:nvSpPr>
        <p:spPr>
          <a:xfrm>
            <a:off x="640080" y="2404872"/>
            <a:ext cx="45720" cy="45720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15" name="Text 13"/>
          <p:cNvSpPr/>
          <p:nvPr/>
        </p:nvSpPr>
        <p:spPr>
          <a:xfrm>
            <a:off x="758952" y="2322576"/>
            <a:ext cx="20665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82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拍照 + 批量上传 + Word 导入 (确定性门禁优先, 100 题上限)</a:t>
            </a:r>
            <a:endParaRPr lang="en-US" sz="820" dirty="0"/>
          </a:p>
        </p:txBody>
      </p:sp>
      <p:sp>
        <p:nvSpPr>
          <p:cNvPr id="16" name="Shape 14"/>
          <p:cNvSpPr/>
          <p:nvPr/>
        </p:nvSpPr>
        <p:spPr>
          <a:xfrm>
            <a:off x="640080" y="2679192"/>
            <a:ext cx="45720" cy="45720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17" name="Text 15"/>
          <p:cNvSpPr/>
          <p:nvPr/>
        </p:nvSpPr>
        <p:spPr>
          <a:xfrm>
            <a:off x="758952" y="2596896"/>
            <a:ext cx="20665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82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SHA-256 图片去重, 命中跳过 AI</a:t>
            </a:r>
            <a:endParaRPr lang="en-US" sz="820" dirty="0"/>
          </a:p>
        </p:txBody>
      </p:sp>
      <p:sp>
        <p:nvSpPr>
          <p:cNvPr id="18" name="Shape 16"/>
          <p:cNvSpPr/>
          <p:nvPr/>
        </p:nvSpPr>
        <p:spPr>
          <a:xfrm>
            <a:off x="3154680" y="1353312"/>
            <a:ext cx="2514600" cy="1609344"/>
          </a:xfrm>
          <a:prstGeom prst="roundRect">
            <a:avLst>
              <a:gd name="adj" fmla="val 3409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12700" dir="5400000">
              <a:srgbClr val="1F2937">
                <a:alpha val="6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3154680" y="1353312"/>
            <a:ext cx="2514600" cy="45720"/>
          </a:xfrm>
          <a:prstGeom prst="rect">
            <a:avLst/>
          </a:prstGeom>
          <a:solidFill>
            <a:srgbClr val="2563E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319272" y="1481328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85032" y="1472184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9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复习调度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3337560" y="1856232"/>
            <a:ext cx="45720" cy="45720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23" name="Text 21"/>
          <p:cNvSpPr/>
          <p:nvPr/>
        </p:nvSpPr>
        <p:spPr>
          <a:xfrm>
            <a:off x="3456432" y="1773936"/>
            <a:ext cx="20665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82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SM-2 间隔重复 (Anki 同源), ease 下限 1.3</a:t>
            </a:r>
            <a:endParaRPr lang="en-US" sz="820" dirty="0"/>
          </a:p>
        </p:txBody>
      </p:sp>
      <p:sp>
        <p:nvSpPr>
          <p:cNvPr id="24" name="Shape 22"/>
          <p:cNvSpPr/>
          <p:nvPr/>
        </p:nvSpPr>
        <p:spPr>
          <a:xfrm>
            <a:off x="3337560" y="2130552"/>
            <a:ext cx="45720" cy="45720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25" name="Text 23"/>
          <p:cNvSpPr/>
          <p:nvPr/>
        </p:nvSpPr>
        <p:spPr>
          <a:xfrm>
            <a:off x="3456432" y="2048256"/>
            <a:ext cx="20665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82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知识点掌握度引擎: 复习日志时间加权 + 遗忘衰减</a:t>
            </a:r>
            <a:endParaRPr lang="en-US" sz="820" dirty="0"/>
          </a:p>
        </p:txBody>
      </p:sp>
      <p:sp>
        <p:nvSpPr>
          <p:cNvPr id="26" name="Shape 24"/>
          <p:cNvSpPr/>
          <p:nvPr/>
        </p:nvSpPr>
        <p:spPr>
          <a:xfrm>
            <a:off x="3337560" y="2404872"/>
            <a:ext cx="45720" cy="45720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27" name="Text 25"/>
          <p:cNvSpPr/>
          <p:nvPr/>
        </p:nvSpPr>
        <p:spPr>
          <a:xfrm>
            <a:off x="3456432" y="2322576"/>
            <a:ext cx="20665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82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今日计划 = SM-2 到期 + 薄弱补位</a:t>
            </a:r>
            <a:endParaRPr lang="en-US" sz="820" dirty="0"/>
          </a:p>
        </p:txBody>
      </p:sp>
      <p:sp>
        <p:nvSpPr>
          <p:cNvPr id="28" name="Shape 26"/>
          <p:cNvSpPr/>
          <p:nvPr/>
        </p:nvSpPr>
        <p:spPr>
          <a:xfrm>
            <a:off x="3337560" y="2679192"/>
            <a:ext cx="45720" cy="45720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29" name="Text 27"/>
          <p:cNvSpPr/>
          <p:nvPr/>
        </p:nvSpPr>
        <p:spPr>
          <a:xfrm>
            <a:off x="3456432" y="2596896"/>
            <a:ext cx="20665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82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已归档题 (reps&gt;=3 且间隔&gt;=21 天) 不入池</a:t>
            </a:r>
            <a:endParaRPr lang="en-US" sz="820" dirty="0"/>
          </a:p>
        </p:txBody>
      </p:sp>
      <p:sp>
        <p:nvSpPr>
          <p:cNvPr id="30" name="Shape 28"/>
          <p:cNvSpPr/>
          <p:nvPr/>
        </p:nvSpPr>
        <p:spPr>
          <a:xfrm>
            <a:off x="5852160" y="1353312"/>
            <a:ext cx="2514600" cy="1609344"/>
          </a:xfrm>
          <a:prstGeom prst="roundRect">
            <a:avLst>
              <a:gd name="adj" fmla="val 3409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12700" dir="5400000">
              <a:srgbClr val="1F2937">
                <a:alpha val="6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5852160" y="1353312"/>
            <a:ext cx="2514600" cy="45720"/>
          </a:xfrm>
          <a:prstGeom prst="rect">
            <a:avLst/>
          </a:prstGeom>
          <a:solidFill>
            <a:srgbClr val="2563E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016752" y="1481328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382512" y="1472184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9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检索与 RAG</a:t>
            </a:r>
            <a:endParaRPr lang="en-US" sz="1350" dirty="0"/>
          </a:p>
        </p:txBody>
      </p:sp>
      <p:sp>
        <p:nvSpPr>
          <p:cNvPr id="34" name="Shape 32"/>
          <p:cNvSpPr/>
          <p:nvPr/>
        </p:nvSpPr>
        <p:spPr>
          <a:xfrm>
            <a:off x="6035040" y="1856232"/>
            <a:ext cx="45720" cy="45720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35" name="Text 33"/>
          <p:cNvSpPr/>
          <p:nvPr/>
        </p:nvSpPr>
        <p:spPr>
          <a:xfrm>
            <a:off x="6153912" y="1773936"/>
            <a:ext cx="20665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82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关键词下推 + 向量深候选池 -&gt; RRF(k=60) 融合</a:t>
            </a:r>
            <a:endParaRPr lang="en-US" sz="820" dirty="0"/>
          </a:p>
        </p:txBody>
      </p:sp>
      <p:sp>
        <p:nvSpPr>
          <p:cNvPr id="36" name="Shape 34"/>
          <p:cNvSpPr/>
          <p:nvPr/>
        </p:nvSpPr>
        <p:spPr>
          <a:xfrm>
            <a:off x="6035040" y="2130552"/>
            <a:ext cx="45720" cy="45720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37" name="Text 35"/>
          <p:cNvSpPr/>
          <p:nvPr/>
        </p:nvSpPr>
        <p:spPr>
          <a:xfrm>
            <a:off x="6153912" y="2048256"/>
            <a:ext cx="20665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82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批量 Hydrate 防 N+1, 末端分页不丢题</a:t>
            </a:r>
            <a:endParaRPr lang="en-US" sz="820" dirty="0"/>
          </a:p>
        </p:txBody>
      </p:sp>
      <p:sp>
        <p:nvSpPr>
          <p:cNvPr id="38" name="Shape 36"/>
          <p:cNvSpPr/>
          <p:nvPr/>
        </p:nvSpPr>
        <p:spPr>
          <a:xfrm>
            <a:off x="6035040" y="2404872"/>
            <a:ext cx="45720" cy="45720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39" name="Text 37"/>
          <p:cNvSpPr/>
          <p:nvPr/>
        </p:nvSpPr>
        <p:spPr>
          <a:xfrm>
            <a:off x="6153912" y="2322576"/>
            <a:ext cx="20665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82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举一反三: 解析自动嵌入并召回相似历史错题</a:t>
            </a:r>
            <a:endParaRPr lang="en-US" sz="820" dirty="0"/>
          </a:p>
        </p:txBody>
      </p:sp>
      <p:sp>
        <p:nvSpPr>
          <p:cNvPr id="40" name="Shape 38"/>
          <p:cNvSpPr/>
          <p:nvPr/>
        </p:nvSpPr>
        <p:spPr>
          <a:xfrm>
            <a:off x="6035040" y="2679192"/>
            <a:ext cx="45720" cy="45720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41" name="Text 39"/>
          <p:cNvSpPr/>
          <p:nvPr/>
        </p:nvSpPr>
        <p:spPr>
          <a:xfrm>
            <a:off x="6153912" y="2596896"/>
            <a:ext cx="20665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82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向量库三处降级关键词, 离线评测 Recall/MRR/NDCG</a:t>
            </a:r>
            <a:endParaRPr lang="en-US" sz="820" dirty="0"/>
          </a:p>
        </p:txBody>
      </p:sp>
      <p:sp>
        <p:nvSpPr>
          <p:cNvPr id="42" name="Shape 40"/>
          <p:cNvSpPr/>
          <p:nvPr/>
        </p:nvSpPr>
        <p:spPr>
          <a:xfrm>
            <a:off x="457200" y="3108960"/>
            <a:ext cx="2514600" cy="1609344"/>
          </a:xfrm>
          <a:prstGeom prst="roundRect">
            <a:avLst>
              <a:gd name="adj" fmla="val 3409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12700" dir="5400000">
              <a:srgbClr val="1F2937">
                <a:alpha val="6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457200" y="3108960"/>
            <a:ext cx="2514600" cy="45720"/>
          </a:xfrm>
          <a:prstGeom prst="rect">
            <a:avLst/>
          </a:prstGeom>
          <a:solidFill>
            <a:srgbClr val="2563E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21792" y="3236976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987552" y="322783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9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学情分析</a:t>
            </a:r>
            <a:endParaRPr lang="en-US" sz="1350" dirty="0"/>
          </a:p>
        </p:txBody>
      </p:sp>
      <p:sp>
        <p:nvSpPr>
          <p:cNvPr id="46" name="Shape 44"/>
          <p:cNvSpPr/>
          <p:nvPr/>
        </p:nvSpPr>
        <p:spPr>
          <a:xfrm>
            <a:off x="640080" y="3611880"/>
            <a:ext cx="45720" cy="45720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47" name="Text 45"/>
          <p:cNvSpPr/>
          <p:nvPr/>
        </p:nvSpPr>
        <p:spPr>
          <a:xfrm>
            <a:off x="758952" y="3529584"/>
            <a:ext cx="20665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82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90 天热力图 / 正确率趋势 / 掌握度成长曲线</a:t>
            </a:r>
            <a:endParaRPr lang="en-US" sz="820" dirty="0"/>
          </a:p>
        </p:txBody>
      </p:sp>
      <p:sp>
        <p:nvSpPr>
          <p:cNvPr id="48" name="Shape 46"/>
          <p:cNvSpPr/>
          <p:nvPr/>
        </p:nvSpPr>
        <p:spPr>
          <a:xfrm>
            <a:off x="640080" y="3886200"/>
            <a:ext cx="45720" cy="45720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49" name="Text 47"/>
          <p:cNvSpPr/>
          <p:nvPr/>
        </p:nvSpPr>
        <p:spPr>
          <a:xfrm>
            <a:off x="758952" y="3803904"/>
            <a:ext cx="20665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82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薄弱知识点排行与雷达图</a:t>
            </a:r>
            <a:endParaRPr lang="en-US" sz="820" dirty="0"/>
          </a:p>
        </p:txBody>
      </p:sp>
      <p:sp>
        <p:nvSpPr>
          <p:cNvPr id="50" name="Shape 48"/>
          <p:cNvSpPr/>
          <p:nvPr/>
        </p:nvSpPr>
        <p:spPr>
          <a:xfrm>
            <a:off x="640080" y="4160520"/>
            <a:ext cx="45720" cy="45720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51" name="Text 49"/>
          <p:cNvSpPr/>
          <p:nvPr/>
        </p:nvSpPr>
        <p:spPr>
          <a:xfrm>
            <a:off x="758952" y="4078224"/>
            <a:ext cx="20665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82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知识图谱: 标签共现力导向, 节点着色=掌握度</a:t>
            </a:r>
            <a:endParaRPr lang="en-US" sz="820" dirty="0"/>
          </a:p>
        </p:txBody>
      </p:sp>
      <p:sp>
        <p:nvSpPr>
          <p:cNvPr id="52" name="Shape 50"/>
          <p:cNvSpPr/>
          <p:nvPr/>
        </p:nvSpPr>
        <p:spPr>
          <a:xfrm>
            <a:off x="640080" y="4434840"/>
            <a:ext cx="45720" cy="45720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53" name="Text 51"/>
          <p:cNvSpPr/>
          <p:nvPr/>
        </p:nvSpPr>
        <p:spPr>
          <a:xfrm>
            <a:off x="758952" y="4352544"/>
            <a:ext cx="20665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82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周报聚合 + 环比 + Markdown/Word 导出</a:t>
            </a:r>
            <a:endParaRPr lang="en-US" sz="820" dirty="0"/>
          </a:p>
        </p:txBody>
      </p:sp>
      <p:sp>
        <p:nvSpPr>
          <p:cNvPr id="54" name="Shape 52"/>
          <p:cNvSpPr/>
          <p:nvPr/>
        </p:nvSpPr>
        <p:spPr>
          <a:xfrm>
            <a:off x="3154680" y="3108960"/>
            <a:ext cx="2514600" cy="1609344"/>
          </a:xfrm>
          <a:prstGeom prst="roundRect">
            <a:avLst>
              <a:gd name="adj" fmla="val 3409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12700" dir="5400000">
              <a:srgbClr val="1F2937">
                <a:alpha val="6000"/>
              </a:srgbClr>
            </a:outerShdw>
          </a:effectLst>
        </p:spPr>
      </p:sp>
      <p:sp>
        <p:nvSpPr>
          <p:cNvPr id="55" name="Shape 53"/>
          <p:cNvSpPr/>
          <p:nvPr/>
        </p:nvSpPr>
        <p:spPr>
          <a:xfrm>
            <a:off x="3154680" y="3108960"/>
            <a:ext cx="2514600" cy="45720"/>
          </a:xfrm>
          <a:prstGeom prst="rect">
            <a:avLst/>
          </a:prstGeom>
          <a:solidFill>
            <a:srgbClr val="2563E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319272" y="3236976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3685032" y="322783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9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助手 / Agent</a:t>
            </a:r>
            <a:endParaRPr lang="en-US" sz="1350" dirty="0"/>
          </a:p>
        </p:txBody>
      </p:sp>
      <p:sp>
        <p:nvSpPr>
          <p:cNvPr id="58" name="Shape 56"/>
          <p:cNvSpPr/>
          <p:nvPr/>
        </p:nvSpPr>
        <p:spPr>
          <a:xfrm>
            <a:off x="3337560" y="3611880"/>
            <a:ext cx="45720" cy="45720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59" name="Text 57"/>
          <p:cNvSpPr/>
          <p:nvPr/>
        </p:nvSpPr>
        <p:spPr>
          <a:xfrm>
            <a:off x="3456432" y="3529584"/>
            <a:ext cx="20665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82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 工具 Tool-use Agent, 最多 8 轮自主编排</a:t>
            </a:r>
            <a:endParaRPr lang="en-US" sz="820" dirty="0"/>
          </a:p>
        </p:txBody>
      </p:sp>
      <p:sp>
        <p:nvSpPr>
          <p:cNvPr id="60" name="Shape 58"/>
          <p:cNvSpPr/>
          <p:nvPr/>
        </p:nvSpPr>
        <p:spPr>
          <a:xfrm>
            <a:off x="3337560" y="3886200"/>
            <a:ext cx="45720" cy="45720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61" name="Text 59"/>
          <p:cNvSpPr/>
          <p:nvPr/>
        </p:nvSpPr>
        <p:spPr>
          <a:xfrm>
            <a:off x="3456432" y="3803904"/>
            <a:ext cx="20665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82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SSE 流式打字机 + 对话持久化与跨端续聊</a:t>
            </a:r>
            <a:endParaRPr lang="en-US" sz="820" dirty="0"/>
          </a:p>
        </p:txBody>
      </p:sp>
      <p:sp>
        <p:nvSpPr>
          <p:cNvPr id="62" name="Shape 60"/>
          <p:cNvSpPr/>
          <p:nvPr/>
        </p:nvSpPr>
        <p:spPr>
          <a:xfrm>
            <a:off x="3337560" y="4160520"/>
            <a:ext cx="45720" cy="45720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63" name="Text 61"/>
          <p:cNvSpPr/>
          <p:nvPr/>
        </p:nvSpPr>
        <p:spPr>
          <a:xfrm>
            <a:off x="3456432" y="4078224"/>
            <a:ext cx="20665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82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MCP Server 可被 Claude Desktop / Cursor 调用</a:t>
            </a:r>
            <a:endParaRPr lang="en-US" sz="820" dirty="0"/>
          </a:p>
        </p:txBody>
      </p:sp>
      <p:sp>
        <p:nvSpPr>
          <p:cNvPr id="64" name="Shape 62"/>
          <p:cNvSpPr/>
          <p:nvPr/>
        </p:nvSpPr>
        <p:spPr>
          <a:xfrm>
            <a:off x="3337560" y="4434840"/>
            <a:ext cx="45720" cy="45720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65" name="Text 63"/>
          <p:cNvSpPr/>
          <p:nvPr/>
        </p:nvSpPr>
        <p:spPr>
          <a:xfrm>
            <a:off x="3456432" y="4352544"/>
            <a:ext cx="20665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82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 Key 时本地规则应答, 流程不中断</a:t>
            </a:r>
            <a:endParaRPr lang="en-US" sz="820" dirty="0"/>
          </a:p>
        </p:txBody>
      </p:sp>
      <p:sp>
        <p:nvSpPr>
          <p:cNvPr id="66" name="Shape 64"/>
          <p:cNvSpPr/>
          <p:nvPr/>
        </p:nvSpPr>
        <p:spPr>
          <a:xfrm>
            <a:off x="5852160" y="3108960"/>
            <a:ext cx="2514600" cy="1609344"/>
          </a:xfrm>
          <a:prstGeom prst="roundRect">
            <a:avLst>
              <a:gd name="adj" fmla="val 3409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12700" dir="5400000">
              <a:srgbClr val="1F2937">
                <a:alpha val="6000"/>
              </a:srgbClr>
            </a:outerShdw>
          </a:effectLst>
        </p:spPr>
      </p:sp>
      <p:sp>
        <p:nvSpPr>
          <p:cNvPr id="67" name="Shape 65"/>
          <p:cNvSpPr/>
          <p:nvPr/>
        </p:nvSpPr>
        <p:spPr>
          <a:xfrm>
            <a:off x="5852160" y="3108960"/>
            <a:ext cx="2514600" cy="45720"/>
          </a:xfrm>
          <a:prstGeom prst="rect">
            <a:avLst/>
          </a:prstGeom>
          <a:solidFill>
            <a:srgbClr val="2563E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016752" y="3236976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69" name="Text 67"/>
          <p:cNvSpPr/>
          <p:nvPr/>
        </p:nvSpPr>
        <p:spPr>
          <a:xfrm>
            <a:off x="6382512" y="322783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9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家校闭环 + 工程化</a:t>
            </a:r>
            <a:endParaRPr lang="en-US" sz="1350" dirty="0"/>
          </a:p>
        </p:txBody>
      </p:sp>
      <p:sp>
        <p:nvSpPr>
          <p:cNvPr id="70" name="Shape 68"/>
          <p:cNvSpPr/>
          <p:nvPr/>
        </p:nvSpPr>
        <p:spPr>
          <a:xfrm>
            <a:off x="6035040" y="3611880"/>
            <a:ext cx="45720" cy="45720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71" name="Text 69"/>
          <p:cNvSpPr/>
          <p:nvPr/>
        </p:nvSpPr>
        <p:spPr>
          <a:xfrm>
            <a:off x="6153912" y="3529584"/>
            <a:ext cx="20665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82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班级多租户: 建班后检索收紧为本班</a:t>
            </a:r>
            <a:endParaRPr lang="en-US" sz="820" dirty="0"/>
          </a:p>
        </p:txBody>
      </p:sp>
      <p:sp>
        <p:nvSpPr>
          <p:cNvPr id="72" name="Shape 70"/>
          <p:cNvSpPr/>
          <p:nvPr/>
        </p:nvSpPr>
        <p:spPr>
          <a:xfrm>
            <a:off x="6035040" y="3886200"/>
            <a:ext cx="45720" cy="45720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73" name="Text 71"/>
          <p:cNvSpPr/>
          <p:nvPr/>
        </p:nvSpPr>
        <p:spPr>
          <a:xfrm>
            <a:off x="6153912" y="3803904"/>
            <a:ext cx="20665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82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教师批注 + 未读红点 (以批注 ID 为水位线)</a:t>
            </a:r>
            <a:endParaRPr lang="en-US" sz="820" dirty="0"/>
          </a:p>
        </p:txBody>
      </p:sp>
      <p:sp>
        <p:nvSpPr>
          <p:cNvPr id="74" name="Shape 72"/>
          <p:cNvSpPr/>
          <p:nvPr/>
        </p:nvSpPr>
        <p:spPr>
          <a:xfrm>
            <a:off x="6035040" y="4160520"/>
            <a:ext cx="45720" cy="45720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75" name="Text 73"/>
          <p:cNvSpPr/>
          <p:nvPr/>
        </p:nvSpPr>
        <p:spPr>
          <a:xfrm>
            <a:off x="6153912" y="4078224"/>
            <a:ext cx="20665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82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services / repositories / models 分层</a:t>
            </a:r>
            <a:endParaRPr lang="en-US" sz="820" dirty="0"/>
          </a:p>
        </p:txBody>
      </p:sp>
      <p:sp>
        <p:nvSpPr>
          <p:cNvPr id="76" name="Shape 74"/>
          <p:cNvSpPr/>
          <p:nvPr/>
        </p:nvSpPr>
        <p:spPr>
          <a:xfrm>
            <a:off x="6035040" y="4434840"/>
            <a:ext cx="45720" cy="45720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77" name="Text 75"/>
          <p:cNvSpPr/>
          <p:nvPr/>
        </p:nvSpPr>
        <p:spPr>
          <a:xfrm>
            <a:off x="6153912" y="4352544"/>
            <a:ext cx="20665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82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job CI: lint / 版本矩阵 / 冒烟 / Docker</a:t>
            </a:r>
            <a:endParaRPr lang="en-US" sz="820" dirty="0"/>
          </a:p>
        </p:txBody>
      </p:sp>
      <p:sp>
        <p:nvSpPr>
          <p:cNvPr id="78" name="Shape 76"/>
          <p:cNvSpPr/>
          <p:nvPr/>
        </p:nvSpPr>
        <p:spPr>
          <a:xfrm>
            <a:off x="8503920" y="4663440"/>
            <a:ext cx="384048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8503920" y="4663440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82296" cy="18288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621792" y="27432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2563E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 DIAGNOSIS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02920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629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诊断总览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457200" y="93268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个问题, 全部有代码位置与截图依据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353312"/>
            <a:ext cx="2514600" cy="20574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12700" dir="5400000">
              <a:srgbClr val="1F2937">
                <a:alpha val="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353312"/>
            <a:ext cx="2514600" cy="45720"/>
          </a:xfrm>
          <a:prstGeom prst="rect">
            <a:avLst/>
          </a:prstGeom>
          <a:solidFill>
            <a:srgbClr val="DC2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1792" y="1517904"/>
            <a:ext cx="402336" cy="219456"/>
          </a:xfrm>
          <a:prstGeom prst="roundRect">
            <a:avLst>
              <a:gd name="adj" fmla="val 16667"/>
            </a:avLst>
          </a:prstGeom>
          <a:solidFill>
            <a:srgbClr val="FEF2F2"/>
          </a:solidFill>
          <a:ln w="9525">
            <a:solidFill>
              <a:srgbClr val="FECAC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21792" y="151790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C26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P0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2194560" y="1444752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097280" y="1536192"/>
            <a:ext cx="1143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29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体验事故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2011680"/>
            <a:ext cx="457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3" name="Text 11"/>
          <p:cNvSpPr/>
          <p:nvPr/>
        </p:nvSpPr>
        <p:spPr>
          <a:xfrm>
            <a:off x="758952" y="1911096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86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异常无边界, traceback 直接打屏</a:t>
            </a:r>
            <a:endParaRPr lang="en-US" sz="860" dirty="0"/>
          </a:p>
        </p:txBody>
      </p:sp>
      <p:sp>
        <p:nvSpPr>
          <p:cNvPr id="14" name="Shape 12"/>
          <p:cNvSpPr/>
          <p:nvPr/>
        </p:nvSpPr>
        <p:spPr>
          <a:xfrm>
            <a:off x="640080" y="2359152"/>
            <a:ext cx="457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5" name="Text 13"/>
          <p:cNvSpPr/>
          <p:nvPr/>
        </p:nvSpPr>
        <p:spPr>
          <a:xfrm>
            <a:off x="758952" y="2258568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86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图片路径不可移植, 换机必崩</a:t>
            </a:r>
            <a:endParaRPr lang="en-US" sz="860" dirty="0"/>
          </a:p>
        </p:txBody>
      </p:sp>
      <p:sp>
        <p:nvSpPr>
          <p:cNvPr id="16" name="Shape 14"/>
          <p:cNvSpPr/>
          <p:nvPr/>
        </p:nvSpPr>
        <p:spPr>
          <a:xfrm>
            <a:off x="3154680" y="1353312"/>
            <a:ext cx="2514600" cy="20574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12700" dir="5400000">
              <a:srgbClr val="1F2937">
                <a:alpha val="6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154680" y="1353312"/>
            <a:ext cx="2514600" cy="45720"/>
          </a:xfrm>
          <a:prstGeom prst="rect">
            <a:avLst/>
          </a:prstGeom>
          <a:solidFill>
            <a:srgbClr val="D9770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319272" y="1517904"/>
            <a:ext cx="402336" cy="219456"/>
          </a:xfrm>
          <a:prstGeom prst="roundRect">
            <a:avLst>
              <a:gd name="adj" fmla="val 16667"/>
            </a:avLst>
          </a:prstGeom>
          <a:solidFill>
            <a:srgbClr val="FFFBEB"/>
          </a:solidFill>
          <a:ln w="9525">
            <a:solidFill>
              <a:srgbClr val="FDE68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319272" y="151790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P1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892040" y="1444752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3794760" y="1536192"/>
            <a:ext cx="1143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29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效率损失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337560" y="2011680"/>
            <a:ext cx="45720" cy="4572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3" name="Text 21"/>
          <p:cNvSpPr/>
          <p:nvPr/>
        </p:nvSpPr>
        <p:spPr>
          <a:xfrm>
            <a:off x="3456432" y="1911096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86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 个导航项平铺, 无主次</a:t>
            </a:r>
            <a:endParaRPr lang="en-US" sz="860" dirty="0"/>
          </a:p>
        </p:txBody>
      </p:sp>
      <p:sp>
        <p:nvSpPr>
          <p:cNvPr id="24" name="Shape 22"/>
          <p:cNvSpPr/>
          <p:nvPr/>
        </p:nvSpPr>
        <p:spPr>
          <a:xfrm>
            <a:off x="3337560" y="2359152"/>
            <a:ext cx="45720" cy="4572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5" name="Text 23"/>
          <p:cNvSpPr/>
          <p:nvPr/>
        </p:nvSpPr>
        <p:spPr>
          <a:xfrm>
            <a:off x="3456432" y="2258568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86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错题本筛选区吃掉首屏 60%</a:t>
            </a:r>
            <a:endParaRPr lang="en-US" sz="860" dirty="0"/>
          </a:p>
        </p:txBody>
      </p:sp>
      <p:sp>
        <p:nvSpPr>
          <p:cNvPr id="26" name="Shape 24"/>
          <p:cNvSpPr/>
          <p:nvPr/>
        </p:nvSpPr>
        <p:spPr>
          <a:xfrm>
            <a:off x="3337560" y="2706624"/>
            <a:ext cx="45720" cy="4572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7" name="Text 25"/>
          <p:cNvSpPr/>
          <p:nvPr/>
        </p:nvSpPr>
        <p:spPr>
          <a:xfrm>
            <a:off x="3456432" y="2606040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86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个图表等权重纵向平铺</a:t>
            </a:r>
            <a:endParaRPr lang="en-US" sz="860" dirty="0"/>
          </a:p>
        </p:txBody>
      </p:sp>
      <p:sp>
        <p:nvSpPr>
          <p:cNvPr id="28" name="Shape 26"/>
          <p:cNvSpPr/>
          <p:nvPr/>
        </p:nvSpPr>
        <p:spPr>
          <a:xfrm>
            <a:off x="3337560" y="3054096"/>
            <a:ext cx="45720" cy="4572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9" name="Text 27"/>
          <p:cNvSpPr/>
          <p:nvPr/>
        </p:nvSpPr>
        <p:spPr>
          <a:xfrm>
            <a:off x="3456432" y="2953512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86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列表项 7 类信息挤在一行纯文本</a:t>
            </a:r>
            <a:endParaRPr lang="en-US" sz="860" dirty="0"/>
          </a:p>
        </p:txBody>
      </p:sp>
      <p:sp>
        <p:nvSpPr>
          <p:cNvPr id="30" name="Shape 28"/>
          <p:cNvSpPr/>
          <p:nvPr/>
        </p:nvSpPr>
        <p:spPr>
          <a:xfrm>
            <a:off x="5852160" y="1353312"/>
            <a:ext cx="2514600" cy="20574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12700" dir="5400000">
              <a:srgbClr val="1F2937">
                <a:alpha val="6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5852160" y="1353312"/>
            <a:ext cx="2514600" cy="45720"/>
          </a:xfrm>
          <a:prstGeom prst="rect">
            <a:avLst/>
          </a:prstGeom>
          <a:solidFill>
            <a:srgbClr val="2563E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016752" y="1517904"/>
            <a:ext cx="402336" cy="219456"/>
          </a:xfrm>
          <a:prstGeom prst="roundRect">
            <a:avLst>
              <a:gd name="adj" fmla="val 16667"/>
            </a:avLst>
          </a:prstGeom>
          <a:solidFill>
            <a:srgbClr val="EFF6FF"/>
          </a:solidFill>
          <a:ln w="9525">
            <a:solidFill>
              <a:srgbClr val="BFDBF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016752" y="151790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563E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P2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7589520" y="1444752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400" dirty="0"/>
          </a:p>
        </p:txBody>
      </p:sp>
      <p:sp>
        <p:nvSpPr>
          <p:cNvPr id="35" name="Text 33"/>
          <p:cNvSpPr/>
          <p:nvPr/>
        </p:nvSpPr>
        <p:spPr>
          <a:xfrm>
            <a:off x="6492240" y="1536192"/>
            <a:ext cx="1143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29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一致性债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6035040" y="2011680"/>
            <a:ext cx="45720" cy="457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7" name="Text 35"/>
          <p:cNvSpPr/>
          <p:nvPr/>
        </p:nvSpPr>
        <p:spPr>
          <a:xfrm>
            <a:off x="6153912" y="1911096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86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统计卡 3 套实现 / 空状态 4 种写法</a:t>
            </a:r>
            <a:endParaRPr lang="en-US" sz="860" dirty="0"/>
          </a:p>
        </p:txBody>
      </p:sp>
      <p:sp>
        <p:nvSpPr>
          <p:cNvPr id="38" name="Shape 36"/>
          <p:cNvSpPr/>
          <p:nvPr/>
        </p:nvSpPr>
        <p:spPr>
          <a:xfrm>
            <a:off x="6035040" y="2359152"/>
            <a:ext cx="45720" cy="457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9" name="Text 37"/>
          <p:cNvSpPr/>
          <p:nvPr/>
        </p:nvSpPr>
        <p:spPr>
          <a:xfrm>
            <a:off x="6153912" y="2258568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86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状态色 2 套映射 (shaky 一红一灰)</a:t>
            </a:r>
            <a:endParaRPr lang="en-US" sz="860" dirty="0"/>
          </a:p>
        </p:txBody>
      </p:sp>
      <p:sp>
        <p:nvSpPr>
          <p:cNvPr id="40" name="Shape 38"/>
          <p:cNvSpPr/>
          <p:nvPr/>
        </p:nvSpPr>
        <p:spPr>
          <a:xfrm>
            <a:off x="6035040" y="2706624"/>
            <a:ext cx="45720" cy="457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41" name="Text 39"/>
          <p:cNvSpPr/>
          <p:nvPr/>
        </p:nvSpPr>
        <p:spPr>
          <a:xfrm>
            <a:off x="6153912" y="2606040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86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i18n 框架存在, 9 个页面 0 处使用</a:t>
            </a:r>
            <a:endParaRPr lang="en-US" sz="860" dirty="0"/>
          </a:p>
        </p:txBody>
      </p:sp>
      <p:sp>
        <p:nvSpPr>
          <p:cNvPr id="42" name="Shape 40"/>
          <p:cNvSpPr/>
          <p:nvPr/>
        </p:nvSpPr>
        <p:spPr>
          <a:xfrm>
            <a:off x="6035040" y="3054096"/>
            <a:ext cx="45720" cy="457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43" name="Text 41"/>
          <p:cNvSpPr/>
          <p:nvPr/>
        </p:nvSpPr>
        <p:spPr>
          <a:xfrm>
            <a:off x="6153912" y="2953512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86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深色模式靠 20 条 !important 打补丁</a:t>
            </a:r>
            <a:endParaRPr lang="en-US" sz="860" dirty="0"/>
          </a:p>
        </p:txBody>
      </p:sp>
      <p:sp>
        <p:nvSpPr>
          <p:cNvPr id="44" name="Text 42"/>
          <p:cNvSpPr/>
          <p:nvPr/>
        </p:nvSpPr>
        <p:spPr>
          <a:xfrm>
            <a:off x="457200" y="349300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9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量化后的技术债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457200" y="3785616"/>
            <a:ext cx="187452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03504" y="3877056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</a:t>
            </a:r>
            <a:endParaRPr lang="en-US" sz="3000" dirty="0"/>
          </a:p>
        </p:txBody>
      </p:sp>
      <p:sp>
        <p:nvSpPr>
          <p:cNvPr id="47" name="Text 45"/>
          <p:cNvSpPr/>
          <p:nvPr/>
        </p:nvSpPr>
        <p:spPr>
          <a:xfrm>
            <a:off x="603504" y="4315968"/>
            <a:ext cx="1691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处 unsafe_allow_html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603504" y="4517136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其中 4 处把 AI 生成内容当 HTML 渲染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2487168" y="3785616"/>
            <a:ext cx="187452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633472" y="3877056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3000" dirty="0"/>
          </a:p>
        </p:txBody>
      </p:sp>
      <p:sp>
        <p:nvSpPr>
          <p:cNvPr id="51" name="Text 49"/>
          <p:cNvSpPr/>
          <p:nvPr/>
        </p:nvSpPr>
        <p:spPr>
          <a:xfrm>
            <a:off x="2633472" y="4315968"/>
            <a:ext cx="1691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个页面有裸 service 调用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2633472" y="4517136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graph / mastery / assistant / auth / review 等</a:t>
            </a:r>
            <a:endParaRPr lang="en-US" sz="800" dirty="0"/>
          </a:p>
        </p:txBody>
      </p:sp>
      <p:sp>
        <p:nvSpPr>
          <p:cNvPr id="53" name="Shape 51"/>
          <p:cNvSpPr/>
          <p:nvPr/>
        </p:nvSpPr>
        <p:spPr>
          <a:xfrm>
            <a:off x="4517136" y="3785616"/>
            <a:ext cx="187452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663440" y="3877056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3000" dirty="0"/>
          </a:p>
        </p:txBody>
      </p:sp>
      <p:sp>
        <p:nvSpPr>
          <p:cNvPr id="55" name="Text 53"/>
          <p:cNvSpPr/>
          <p:nvPr/>
        </p:nvSpPr>
        <p:spPr>
          <a:xfrm>
            <a:off x="4663440" y="4315968"/>
            <a:ext cx="1691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个平级导航项</a:t>
            </a:r>
            <a:endParaRPr lang="en-US" sz="950" dirty="0"/>
          </a:p>
        </p:txBody>
      </p:sp>
      <p:sp>
        <p:nvSpPr>
          <p:cNvPr id="56" name="Text 54"/>
          <p:cNvSpPr/>
          <p:nvPr/>
        </p:nvSpPr>
        <p:spPr>
          <a:xfrm>
            <a:off x="4663440" y="4517136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核心动作与低频设置视觉权重相同</a:t>
            </a:r>
            <a:endParaRPr lang="en-US" sz="800" dirty="0"/>
          </a:p>
        </p:txBody>
      </p:sp>
      <p:sp>
        <p:nvSpPr>
          <p:cNvPr id="57" name="Shape 55"/>
          <p:cNvSpPr/>
          <p:nvPr/>
        </p:nvSpPr>
        <p:spPr>
          <a:xfrm>
            <a:off x="6547104" y="3785616"/>
            <a:ext cx="187452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693408" y="3877056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3000" dirty="0"/>
          </a:p>
        </p:txBody>
      </p:sp>
      <p:sp>
        <p:nvSpPr>
          <p:cNvPr id="59" name="Text 57"/>
          <p:cNvSpPr/>
          <p:nvPr/>
        </p:nvSpPr>
        <p:spPr>
          <a:xfrm>
            <a:off x="6693408" y="4315968"/>
            <a:ext cx="1691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条 E2E 用例</a:t>
            </a:r>
            <a:endParaRPr lang="en-US" sz="950" dirty="0"/>
          </a:p>
        </p:txBody>
      </p:sp>
      <p:sp>
        <p:nvSpPr>
          <p:cNvPr id="60" name="Text 58"/>
          <p:cNvSpPr/>
          <p:nvPr/>
        </p:nvSpPr>
        <p:spPr>
          <a:xfrm>
            <a:off x="6693408" y="4517136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前端层零单测, 改版无回归保护</a:t>
            </a:r>
            <a:endParaRPr lang="en-US" sz="800" dirty="0"/>
          </a:p>
        </p:txBody>
      </p:sp>
      <p:sp>
        <p:nvSpPr>
          <p:cNvPr id="61" name="Shape 59"/>
          <p:cNvSpPr/>
          <p:nvPr/>
        </p:nvSpPr>
        <p:spPr>
          <a:xfrm>
            <a:off x="8503920" y="4663440"/>
            <a:ext cx="384048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8503920" y="4663440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82296" cy="18288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621792" y="27432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2563E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 P0-1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02920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629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异常没有边界, traceback 直接打屏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457200" y="93268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仓库里已有 review.png 记录了这次事故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800600" y="1298448"/>
            <a:ext cx="3611880" cy="2587752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12700" dir="5400000">
              <a:srgbClr val="1F2937">
                <a:alpha val="6000"/>
              </a:srgbClr>
            </a:outerShdw>
          </a:effectLst>
        </p:spPr>
      </p:sp>
      <p:pic>
        <p:nvPicPr>
          <p:cNvPr id="7" name="Image 0" descr="../screenshots/revi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82896" y="1380744"/>
            <a:ext cx="3447288" cy="24231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800600" y="3931920"/>
            <a:ext cx="3611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docs/screenshots/review.png -- 用户实际看到的画面</a:t>
            </a:r>
            <a:endParaRPr lang="en-US" sz="850" dirty="0"/>
          </a:p>
        </p:txBody>
      </p:sp>
      <p:sp>
        <p:nvSpPr>
          <p:cNvPr id="9" name="Shape 6"/>
          <p:cNvSpPr/>
          <p:nvPr/>
        </p:nvSpPr>
        <p:spPr>
          <a:xfrm>
            <a:off x="4800600" y="4224528"/>
            <a:ext cx="3611880" cy="658368"/>
          </a:xfrm>
          <a:prstGeom prst="roundRect">
            <a:avLst>
              <a:gd name="adj" fmla="val 6944"/>
            </a:avLst>
          </a:prstGeom>
          <a:solidFill>
            <a:srgbClr val="FEF2F2"/>
          </a:solidFill>
          <a:ln w="9525">
            <a:solidFill>
              <a:srgbClr val="FECAC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937760" y="431596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C26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根因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937760" y="4498848"/>
            <a:ext cx="3383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frontend/pages/review.py:101  st.image(question.image_path) 无 os.path.exists 检查, 也无 try 包裹</a:t>
            </a:r>
            <a:endParaRPr lang="en-US" sz="850" dirty="0"/>
          </a:p>
        </p:txBody>
      </p:sp>
      <p:sp>
        <p:nvSpPr>
          <p:cNvPr id="12" name="Text 9"/>
          <p:cNvSpPr/>
          <p:nvPr/>
        </p:nvSpPr>
        <p:spPr>
          <a:xfrm>
            <a:off x="457200" y="1298448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29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同一种模式遍布 7 个页面 -- service 调用没有安全包装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1609344"/>
            <a:ext cx="4297680" cy="347472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57200" y="1609344"/>
            <a:ext cx="45720" cy="347472"/>
          </a:xfrm>
          <a:prstGeom prst="rect">
            <a:avLst/>
          </a:prstGeom>
          <a:solidFill>
            <a:srgbClr val="DC2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03504" y="1609344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graph.py:34 / :40</a:t>
            </a:r>
            <a:endParaRPr lang="en-US" sz="750" dirty="0"/>
          </a:p>
        </p:txBody>
      </p:sp>
      <p:sp>
        <p:nvSpPr>
          <p:cNvPr id="16" name="Text 13"/>
          <p:cNvSpPr/>
          <p:nvPr/>
        </p:nvSpPr>
        <p:spPr>
          <a:xfrm>
            <a:off x="2121408" y="1609344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8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list_questions + dashboard_stats 全量拉取, 无 try 无 spinner</a:t>
            </a:r>
            <a:endParaRPr lang="en-US" sz="780" dirty="0"/>
          </a:p>
        </p:txBody>
      </p:sp>
      <p:sp>
        <p:nvSpPr>
          <p:cNvPr id="17" name="Shape 14"/>
          <p:cNvSpPr/>
          <p:nvPr/>
        </p:nvSpPr>
        <p:spPr>
          <a:xfrm>
            <a:off x="457200" y="2011680"/>
            <a:ext cx="4297680" cy="347472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57200" y="2011680"/>
            <a:ext cx="45720" cy="347472"/>
          </a:xfrm>
          <a:prstGeom prst="rect">
            <a:avLst/>
          </a:prstGeom>
          <a:solidFill>
            <a:srgbClr val="DC2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03504" y="2011680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mastery.py:57</a:t>
            </a:r>
            <a:endParaRPr lang="en-US" sz="750" dirty="0"/>
          </a:p>
        </p:txBody>
      </p:sp>
      <p:sp>
        <p:nvSpPr>
          <p:cNvPr id="20" name="Text 17"/>
          <p:cNvSpPr/>
          <p:nvPr/>
        </p:nvSpPr>
        <p:spPr>
          <a:xfrm>
            <a:off x="2121408" y="2011680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8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mastery_profile 裸调用</a:t>
            </a:r>
            <a:endParaRPr lang="en-US" sz="780" dirty="0"/>
          </a:p>
        </p:txBody>
      </p:sp>
      <p:sp>
        <p:nvSpPr>
          <p:cNvPr id="21" name="Shape 18"/>
          <p:cNvSpPr/>
          <p:nvPr/>
        </p:nvSpPr>
        <p:spPr>
          <a:xfrm>
            <a:off x="457200" y="2414016"/>
            <a:ext cx="4297680" cy="347472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457200" y="2414016"/>
            <a:ext cx="45720" cy="347472"/>
          </a:xfrm>
          <a:prstGeom prst="rect">
            <a:avLst/>
          </a:prstGeom>
          <a:solidFill>
            <a:srgbClr val="DC2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03504" y="2414016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assistant.py:59</a:t>
            </a:r>
            <a:endParaRPr lang="en-US" sz="750" dirty="0"/>
          </a:p>
        </p:txBody>
      </p:sp>
      <p:sp>
        <p:nvSpPr>
          <p:cNvPr id="24" name="Text 21"/>
          <p:cNvSpPr/>
          <p:nvPr/>
        </p:nvSpPr>
        <p:spPr>
          <a:xfrm>
            <a:off x="2121408" y="2414016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8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list_for_user 裸调用</a:t>
            </a:r>
            <a:endParaRPr lang="en-US" sz="780" dirty="0"/>
          </a:p>
        </p:txBody>
      </p:sp>
      <p:sp>
        <p:nvSpPr>
          <p:cNvPr id="25" name="Shape 22"/>
          <p:cNvSpPr/>
          <p:nvPr/>
        </p:nvSpPr>
        <p:spPr>
          <a:xfrm>
            <a:off x="457200" y="2816352"/>
            <a:ext cx="4297680" cy="347472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457200" y="2816352"/>
            <a:ext cx="45720" cy="347472"/>
          </a:xfrm>
          <a:prstGeom prst="rect">
            <a:avLst/>
          </a:prstGeom>
          <a:solidFill>
            <a:srgbClr val="DC2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03504" y="2816352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auth.py:57 / :90</a:t>
            </a:r>
            <a:endParaRPr lang="en-US" sz="750" dirty="0"/>
          </a:p>
        </p:txBody>
      </p:sp>
      <p:sp>
        <p:nvSpPr>
          <p:cNvPr id="28" name="Text 25"/>
          <p:cNvSpPr/>
          <p:nvPr/>
        </p:nvSpPr>
        <p:spPr>
          <a:xfrm>
            <a:off x="2121408" y="2816352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8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登录与注册裸调用, DB 挂掉直接打登录页</a:t>
            </a:r>
            <a:endParaRPr lang="en-US" sz="780" dirty="0"/>
          </a:p>
        </p:txBody>
      </p:sp>
      <p:sp>
        <p:nvSpPr>
          <p:cNvPr id="29" name="Shape 26"/>
          <p:cNvSpPr/>
          <p:nvPr/>
        </p:nvSpPr>
        <p:spPr>
          <a:xfrm>
            <a:off x="457200" y="3218688"/>
            <a:ext cx="4297680" cy="347472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457200" y="3218688"/>
            <a:ext cx="45720" cy="347472"/>
          </a:xfrm>
          <a:prstGeom prst="rect">
            <a:avLst/>
          </a:prstGeom>
          <a:solidFill>
            <a:srgbClr val="DC2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03504" y="3218688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review.py:41/45/102/182/225</a:t>
            </a:r>
            <a:endParaRPr lang="en-US" sz="750" dirty="0"/>
          </a:p>
        </p:txBody>
      </p:sp>
      <p:sp>
        <p:nvSpPr>
          <p:cNvPr id="32" name="Text 29"/>
          <p:cNvSpPr/>
          <p:nvPr/>
        </p:nvSpPr>
        <p:spPr>
          <a:xfrm>
            <a:off x="2121408" y="3218688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8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队列/快照/评分/历史共 5 处裸调用</a:t>
            </a:r>
            <a:endParaRPr lang="en-US" sz="780" dirty="0"/>
          </a:p>
        </p:txBody>
      </p:sp>
      <p:sp>
        <p:nvSpPr>
          <p:cNvPr id="33" name="Shape 30"/>
          <p:cNvSpPr/>
          <p:nvPr/>
        </p:nvSpPr>
        <p:spPr>
          <a:xfrm>
            <a:off x="457200" y="3621024"/>
            <a:ext cx="4297680" cy="347472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457200" y="3621024"/>
            <a:ext cx="45720" cy="347472"/>
          </a:xfrm>
          <a:prstGeom prst="rect">
            <a:avLst/>
          </a:prstGeom>
          <a:solidFill>
            <a:srgbClr val="DC2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603504" y="3621024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settings.py:79/171/184/206/215</a:t>
            </a:r>
            <a:endParaRPr lang="en-US" sz="750" dirty="0"/>
          </a:p>
        </p:txBody>
      </p:sp>
      <p:sp>
        <p:nvSpPr>
          <p:cNvPr id="36" name="Text 33"/>
          <p:cNvSpPr/>
          <p:nvPr/>
        </p:nvSpPr>
        <p:spPr>
          <a:xfrm>
            <a:off x="2121408" y="3621024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8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向量库可用性 / 标签删除 / 数据体检 6 处裸调用</a:t>
            </a:r>
            <a:endParaRPr lang="en-US" sz="780" dirty="0"/>
          </a:p>
        </p:txBody>
      </p:sp>
      <p:sp>
        <p:nvSpPr>
          <p:cNvPr id="37" name="Shape 34"/>
          <p:cNvSpPr/>
          <p:nvPr/>
        </p:nvSpPr>
        <p:spPr>
          <a:xfrm>
            <a:off x="457200" y="4023360"/>
            <a:ext cx="4297680" cy="347472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457200" y="4023360"/>
            <a:ext cx="45720" cy="347472"/>
          </a:xfrm>
          <a:prstGeom prst="rect">
            <a:avLst/>
          </a:prstGeom>
          <a:solidFill>
            <a:srgbClr val="DC2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603504" y="4023360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students.py:223</a:t>
            </a:r>
            <a:endParaRPr lang="en-US" sz="750" dirty="0"/>
          </a:p>
        </p:txBody>
      </p:sp>
      <p:sp>
        <p:nvSpPr>
          <p:cNvPr id="40" name="Text 37"/>
          <p:cNvSpPr/>
          <p:nvPr/>
        </p:nvSpPr>
        <p:spPr>
          <a:xfrm>
            <a:off x="2121408" y="4023360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8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每学生一次 list_questions, 40 人 = 40 次全表查询</a:t>
            </a:r>
            <a:endParaRPr lang="en-US" sz="780" dirty="0"/>
          </a:p>
        </p:txBody>
      </p:sp>
      <p:sp>
        <p:nvSpPr>
          <p:cNvPr id="41" name="Shape 38"/>
          <p:cNvSpPr/>
          <p:nvPr/>
        </p:nvSpPr>
        <p:spPr>
          <a:xfrm>
            <a:off x="457200" y="4480560"/>
            <a:ext cx="4297680" cy="402336"/>
          </a:xfrm>
          <a:prstGeom prst="roundRect">
            <a:avLst>
              <a:gd name="adj" fmla="val 11364"/>
            </a:avLst>
          </a:prstGeom>
          <a:solidFill>
            <a:srgbClr val="ECFDF5"/>
          </a:solidFill>
          <a:ln w="9525">
            <a:solidFill>
              <a:srgbClr val="A7F3D0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603504" y="4480560"/>
            <a:ext cx="4023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第一批修复: 加一个 safe_call() 包装层 + 统一的 error_card 降级组件</a:t>
            </a:r>
            <a:endParaRPr lang="en-US" sz="900" dirty="0"/>
          </a:p>
        </p:txBody>
      </p:sp>
      <p:sp>
        <p:nvSpPr>
          <p:cNvPr id="43" name="Shape 40"/>
          <p:cNvSpPr/>
          <p:nvPr/>
        </p:nvSpPr>
        <p:spPr>
          <a:xfrm>
            <a:off x="8503920" y="4663440"/>
            <a:ext cx="384048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8503920" y="4663440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82296" cy="18288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621792" y="27432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2563E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 P0-2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02920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629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图片路径不可移植, AI 内容被当 HTML 渲染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457200" y="93268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两个问题都直接指向"数据可信度"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3794760" cy="3108960"/>
          </a:xfrm>
          <a:prstGeom prst="roundRect">
            <a:avLst>
              <a:gd name="adj" fmla="val 1765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12700" dir="5400000">
              <a:srgbClr val="1F2937">
                <a:alpha val="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325880"/>
            <a:ext cx="3794760" cy="45720"/>
          </a:xfrm>
          <a:prstGeom prst="rect">
            <a:avLst/>
          </a:prstGeom>
          <a:solidFill>
            <a:srgbClr val="DC2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58368" y="1517904"/>
            <a:ext cx="384048" cy="219456"/>
          </a:xfrm>
          <a:prstGeom prst="roundRect">
            <a:avLst>
              <a:gd name="adj" fmla="val 16667"/>
            </a:avLst>
          </a:prstGeom>
          <a:solidFill>
            <a:srgbClr val="FEF2F2"/>
          </a:solidFill>
          <a:ln w="9525">
            <a:solidFill>
              <a:srgbClr val="FECAC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517904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C26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P0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1133856" y="1499616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9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图片路径存的是绝对路径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58368" y="1883664"/>
            <a:ext cx="3621024" cy="566928"/>
          </a:xfrm>
          <a:prstGeom prst="rect">
            <a:avLst/>
          </a:prstGeom>
          <a:solidFill>
            <a:srgbClr val="F8FAFC"/>
          </a:solidFill>
          <a:ln w="7620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1920240"/>
            <a:ext cx="3429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20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DB 实际存储值:</a:t>
            </a:r>
            <a:endParaRPr lang="en-US" sz="72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20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C:\Users\liyun\.zcode\workspace\default\</a:t>
            </a:r>
            <a:endParaRPr lang="en-US" sz="72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20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Math_Tutor_RAG\data\images\u2\20260915.jpg</a:t>
            </a:r>
            <a:endParaRPr lang="en-US" sz="720" dirty="0"/>
          </a:p>
        </p:txBody>
      </p:sp>
      <p:sp>
        <p:nvSpPr>
          <p:cNvPr id="13" name="Shape 11"/>
          <p:cNvSpPr/>
          <p:nvPr/>
        </p:nvSpPr>
        <p:spPr>
          <a:xfrm>
            <a:off x="658368" y="2679192"/>
            <a:ext cx="64008" cy="64008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2587752"/>
            <a:ext cx="34930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换机器必崩</a:t>
            </a:r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截图里的报错就是这条路径失效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58368" y="3246120"/>
            <a:ext cx="64008" cy="64008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3154680"/>
            <a:ext cx="34930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v2.10.0 只做了兜底提示</a:t>
            </a:r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根因未改, 一次改写脚本不是修复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58368" y="3813048"/>
            <a:ext cx="64008" cy="64008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8" name="Text 16"/>
          <p:cNvSpPr/>
          <p:nvPr/>
        </p:nvSpPr>
        <p:spPr>
          <a:xfrm>
            <a:off x="822960" y="3721608"/>
            <a:ext cx="34930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建议改存相对路径</a:t>
            </a:r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data/images/xxx.jpg, 读取时用 __file__ 拼接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663440" y="1325880"/>
            <a:ext cx="3794760" cy="3108960"/>
          </a:xfrm>
          <a:prstGeom prst="roundRect">
            <a:avLst>
              <a:gd name="adj" fmla="val 1765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12700" dir="5400000">
              <a:srgbClr val="1F2937">
                <a:alpha val="6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663440" y="1325880"/>
            <a:ext cx="3794760" cy="45720"/>
          </a:xfrm>
          <a:prstGeom prst="rect">
            <a:avLst/>
          </a:prstGeom>
          <a:solidFill>
            <a:srgbClr val="D9770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864608" y="1517904"/>
            <a:ext cx="384048" cy="219456"/>
          </a:xfrm>
          <a:prstGeom prst="roundRect">
            <a:avLst>
              <a:gd name="adj" fmla="val 16667"/>
            </a:avLst>
          </a:prstGeom>
          <a:solidFill>
            <a:srgbClr val="FFFBEB"/>
          </a:solidFill>
          <a:ln w="9525">
            <a:solidFill>
              <a:srgbClr val="FDE68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64608" y="1517904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P0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340096" y="1499616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9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生成内容被当 HTML 渲染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4864608" y="1883664"/>
            <a:ext cx="3621024" cy="566928"/>
          </a:xfrm>
          <a:prstGeom prst="rect">
            <a:avLst/>
          </a:prstGeom>
          <a:solidFill>
            <a:srgbClr val="F8FAFC"/>
          </a:solidFill>
          <a:ln w="762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983480" y="1920240"/>
            <a:ext cx="3429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2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review.py:158  st.markdown(content_markdown[:220],</a:t>
            </a:r>
            <a:endParaRPr lang="en-US" sz="72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2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                      unsafe_allow_html=True)</a:t>
            </a:r>
            <a:endParaRPr lang="en-US" sz="72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2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tutor.py:215    同样把 analysis.analysis 直接渲染</a:t>
            </a:r>
            <a:endParaRPr lang="en-US" sz="720" dirty="0"/>
          </a:p>
        </p:txBody>
      </p:sp>
      <p:sp>
        <p:nvSpPr>
          <p:cNvPr id="26" name="Shape 24"/>
          <p:cNvSpPr/>
          <p:nvPr/>
        </p:nvSpPr>
        <p:spPr>
          <a:xfrm>
            <a:off x="4864608" y="2679192"/>
            <a:ext cx="64008" cy="64008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7" name="Text 25"/>
          <p:cNvSpPr/>
          <p:nvPr/>
        </p:nvSpPr>
        <p:spPr>
          <a:xfrm>
            <a:off x="5029200" y="2587752"/>
            <a:ext cx="34930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全项目 49 处 unsafe_allow_html</a:t>
            </a:r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settings.py 一个文件就占 12 处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864608" y="3246120"/>
            <a:ext cx="64008" cy="64008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9" name="Text 27"/>
          <p:cNvSpPr/>
          <p:nvPr/>
        </p:nvSpPr>
        <p:spPr>
          <a:xfrm>
            <a:off x="5029200" y="3154680"/>
            <a:ext cx="34930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assistant.py:166 泄漏内部细节</a:t>
            </a:r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把原始异常字符串直接展示给用户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4864608" y="3813048"/>
            <a:ext cx="64008" cy="64008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31" name="Text 29"/>
          <p:cNvSpPr/>
          <p:nvPr/>
        </p:nvSpPr>
        <p:spPr>
          <a:xfrm>
            <a:off x="5029200" y="3721608"/>
            <a:ext cx="34930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改版换渲染管线时必须一起收口</a:t>
            </a:r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否则会逐个漏改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8503920" y="4663440"/>
            <a:ext cx="384048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503920" y="4663440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82296" cy="18288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621792" y="27432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2563E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 P1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02920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629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信息架构: 功能都平铺出来了, 但没有主次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457200" y="93268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四个问题都指向同一件事 -- 用户打开应用的第一问没有得到回答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379476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12700" dir="5400000">
              <a:srgbClr val="1F2937">
                <a:alpha val="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325880"/>
            <a:ext cx="45720" cy="1691640"/>
          </a:xfrm>
          <a:prstGeom prst="rect">
            <a:avLst/>
          </a:prstGeom>
          <a:solidFill>
            <a:srgbClr val="D9770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1453896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629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 个导航项完全平级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8368" y="1984248"/>
            <a:ext cx="208483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2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录题 (核心动作) 与 设置 (低频) 视觉权重相同, 也没有"今天该做什么"的入口.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663440" y="1325880"/>
            <a:ext cx="379476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12700" dir="5400000">
              <a:srgbClr val="1F2937">
                <a:alpha val="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325880"/>
            <a:ext cx="45720" cy="1691640"/>
          </a:xfrm>
          <a:prstGeom prst="rect">
            <a:avLst/>
          </a:prstGeom>
          <a:solidFill>
            <a:srgbClr val="D9770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64608" y="1453896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629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筛选区吃掉首屏 60%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64608" y="1984248"/>
            <a:ext cx="208483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2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个 toggle + 2 个下拉 + 搜索框默认全关, 等于白占空间, 真正的列表被推到折叠线以下.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57200" y="3127248"/>
            <a:ext cx="379476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12700" dir="5400000">
              <a:srgbClr val="1F2937">
                <a:alpha val="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127248"/>
            <a:ext cx="45720" cy="1691640"/>
          </a:xfrm>
          <a:prstGeom prst="rect">
            <a:avLst/>
          </a:prstGeom>
          <a:solidFill>
            <a:srgbClr val="D9770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8368" y="3255264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629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个图表等权重平铺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58368" y="3785616"/>
            <a:ext cx="208483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2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知识点分布/薄弱/录入趋势/日历/正确率/难度 同尺寸同位置堆叠, 核心指标被稀释.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663440" y="3127248"/>
            <a:ext cx="379476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12700" dir="5400000">
              <a:srgbClr val="1F2937">
                <a:alpha val="6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3127248"/>
            <a:ext cx="45720" cy="1691640"/>
          </a:xfrm>
          <a:prstGeom prst="rect">
            <a:avLst/>
          </a:prstGeom>
          <a:solidFill>
            <a:srgbClr val="D9770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64608" y="3255264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629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一行塞了 7 类信息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64608" y="3785616"/>
            <a:ext cx="208483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2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到期标记+星标+标签+难度+日期+掌握度+未读批注 串成纯文本, 扫读成本极高.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2852928" y="1481328"/>
            <a:ext cx="1234440" cy="118872"/>
          </a:xfrm>
          <a:prstGeom prst="rect">
            <a:avLst/>
          </a:prstGeom>
          <a:solidFill>
            <a:srgbClr val="EFF6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889504" y="1527048"/>
            <a:ext cx="457200" cy="32004"/>
          </a:xfrm>
          <a:prstGeom prst="rect">
            <a:avLst/>
          </a:prstGeom>
          <a:solidFill>
            <a:srgbClr val="2563E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852928" y="1623060"/>
            <a:ext cx="1234440" cy="118872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889504" y="1668780"/>
            <a:ext cx="347472" cy="32004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852928" y="1764792"/>
            <a:ext cx="1234440" cy="118872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889504" y="1810512"/>
            <a:ext cx="347472" cy="32004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852928" y="1906524"/>
            <a:ext cx="1234440" cy="118872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889504" y="1952244"/>
            <a:ext cx="347472" cy="32004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852928" y="2048256"/>
            <a:ext cx="1234440" cy="118872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889504" y="2093976"/>
            <a:ext cx="347472" cy="32004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852928" y="2189988"/>
            <a:ext cx="1234440" cy="118872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889504" y="2235708"/>
            <a:ext cx="347472" cy="32004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852928" y="2331720"/>
            <a:ext cx="1234440" cy="118872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889504" y="2377440"/>
            <a:ext cx="347472" cy="32004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852928" y="2473452"/>
            <a:ext cx="1234440" cy="118872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889504" y="2519172"/>
            <a:ext cx="347472" cy="32004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852928" y="2615184"/>
            <a:ext cx="1234440" cy="118872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889504" y="2660904"/>
            <a:ext cx="347472" cy="32004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852928" y="2779776"/>
            <a:ext cx="1234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DC26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 个分组</a:t>
            </a:r>
            <a:endParaRPr lang="en-US" sz="700" dirty="0"/>
          </a:p>
        </p:txBody>
      </p:sp>
      <p:sp>
        <p:nvSpPr>
          <p:cNvPr id="41" name="Shape 39"/>
          <p:cNvSpPr/>
          <p:nvPr/>
        </p:nvSpPr>
        <p:spPr>
          <a:xfrm>
            <a:off x="6967728" y="1481328"/>
            <a:ext cx="1234440" cy="841248"/>
          </a:xfrm>
          <a:prstGeom prst="rect">
            <a:avLst/>
          </a:prstGeom>
          <a:solidFill>
            <a:srgbClr val="FEF2F2"/>
          </a:solidFill>
          <a:ln w="9525">
            <a:solidFill>
              <a:srgbClr val="FECACA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>
            <a:off x="7040880" y="1572768"/>
            <a:ext cx="310896" cy="73152"/>
          </a:xfrm>
          <a:prstGeom prst="rect">
            <a:avLst/>
          </a:prstGeom>
          <a:solidFill>
            <a:srgbClr val="FCA5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424928" y="1572768"/>
            <a:ext cx="841248" cy="73152"/>
          </a:xfrm>
          <a:prstGeom prst="rect">
            <a:avLst/>
          </a:prstGeom>
          <a:solidFill>
            <a:srgbClr val="FECA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040880" y="1709928"/>
            <a:ext cx="310896" cy="73152"/>
          </a:xfrm>
          <a:prstGeom prst="rect">
            <a:avLst/>
          </a:prstGeom>
          <a:solidFill>
            <a:srgbClr val="FCA5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424928" y="1709928"/>
            <a:ext cx="841248" cy="73152"/>
          </a:xfrm>
          <a:prstGeom prst="rect">
            <a:avLst/>
          </a:prstGeom>
          <a:solidFill>
            <a:srgbClr val="FECA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040880" y="1847088"/>
            <a:ext cx="310896" cy="73152"/>
          </a:xfrm>
          <a:prstGeom prst="rect">
            <a:avLst/>
          </a:prstGeom>
          <a:solidFill>
            <a:srgbClr val="FCA5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424928" y="1847088"/>
            <a:ext cx="841248" cy="73152"/>
          </a:xfrm>
          <a:prstGeom prst="rect">
            <a:avLst/>
          </a:prstGeom>
          <a:solidFill>
            <a:srgbClr val="FECA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040880" y="1984248"/>
            <a:ext cx="310896" cy="73152"/>
          </a:xfrm>
          <a:prstGeom prst="rect">
            <a:avLst/>
          </a:prstGeom>
          <a:solidFill>
            <a:srgbClr val="FCA5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7424928" y="1984248"/>
            <a:ext cx="841248" cy="73152"/>
          </a:xfrm>
          <a:prstGeom prst="rect">
            <a:avLst/>
          </a:prstGeom>
          <a:solidFill>
            <a:srgbClr val="FECA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040880" y="2121408"/>
            <a:ext cx="310896" cy="73152"/>
          </a:xfrm>
          <a:prstGeom prst="rect">
            <a:avLst/>
          </a:prstGeom>
          <a:solidFill>
            <a:srgbClr val="FCA5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7424928" y="2121408"/>
            <a:ext cx="841248" cy="73152"/>
          </a:xfrm>
          <a:prstGeom prst="rect">
            <a:avLst/>
          </a:prstGeom>
          <a:solidFill>
            <a:srgbClr val="FECA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6967728" y="2395728"/>
            <a:ext cx="1234440" cy="329184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967728" y="2395728"/>
            <a:ext cx="1234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列表在这</a:t>
            </a:r>
            <a:endParaRPr lang="en-US" sz="750" dirty="0"/>
          </a:p>
        </p:txBody>
      </p:sp>
      <p:sp>
        <p:nvSpPr>
          <p:cNvPr id="54" name="Text 52"/>
          <p:cNvSpPr/>
          <p:nvPr/>
        </p:nvSpPr>
        <p:spPr>
          <a:xfrm>
            <a:off x="6967728" y="2779776"/>
            <a:ext cx="1234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DC26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60% 屏幕</a:t>
            </a:r>
            <a:endParaRPr lang="en-US" sz="700" dirty="0"/>
          </a:p>
        </p:txBody>
      </p:sp>
      <p:sp>
        <p:nvSpPr>
          <p:cNvPr id="55" name="Shape 53"/>
          <p:cNvSpPr/>
          <p:nvPr/>
        </p:nvSpPr>
        <p:spPr>
          <a:xfrm>
            <a:off x="2852928" y="3282696"/>
            <a:ext cx="640080" cy="310896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2907792" y="3355848"/>
            <a:ext cx="530352" cy="164592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3566160" y="3282696"/>
            <a:ext cx="640080" cy="310896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3621024" y="3355848"/>
            <a:ext cx="530352" cy="164592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2852928" y="3666744"/>
            <a:ext cx="640080" cy="310896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2907792" y="3739896"/>
            <a:ext cx="530352" cy="164592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3566160" y="3666744"/>
            <a:ext cx="640080" cy="310896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3621024" y="3739896"/>
            <a:ext cx="530352" cy="164592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2852928" y="4050792"/>
            <a:ext cx="640080" cy="310896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2907792" y="4123944"/>
            <a:ext cx="530352" cy="164592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3566160" y="4050792"/>
            <a:ext cx="640080" cy="310896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3621024" y="4123944"/>
            <a:ext cx="530352" cy="164592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2852928" y="4471416"/>
            <a:ext cx="1234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DC26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无主次</a:t>
            </a:r>
            <a:endParaRPr lang="en-US" sz="700" dirty="0"/>
          </a:p>
        </p:txBody>
      </p:sp>
      <p:sp>
        <p:nvSpPr>
          <p:cNvPr id="68" name="Shape 66"/>
          <p:cNvSpPr/>
          <p:nvPr/>
        </p:nvSpPr>
        <p:spPr>
          <a:xfrm>
            <a:off x="6967728" y="3282696"/>
            <a:ext cx="1234440" cy="219456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7013448" y="3374136"/>
            <a:ext cx="153619" cy="45720"/>
          </a:xfrm>
          <a:prstGeom prst="rect">
            <a:avLst/>
          </a:prstGeom>
          <a:solidFill>
            <a:srgbClr val="F59E0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7185355" y="3374136"/>
            <a:ext cx="384048" cy="45720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7587691" y="3374136"/>
            <a:ext cx="281635" cy="45720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7887614" y="3374136"/>
            <a:ext cx="230429" cy="45720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8136331" y="3374136"/>
            <a:ext cx="153619" cy="45720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6967728" y="3557016"/>
            <a:ext cx="1234440" cy="219456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7013448" y="3648456"/>
            <a:ext cx="153619" cy="45720"/>
          </a:xfrm>
          <a:prstGeom prst="rect">
            <a:avLst/>
          </a:prstGeom>
          <a:solidFill>
            <a:srgbClr val="F59E0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7185355" y="3648456"/>
            <a:ext cx="384048" cy="45720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7587691" y="3648456"/>
            <a:ext cx="281635" cy="45720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7887614" y="3648456"/>
            <a:ext cx="230429" cy="45720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8136331" y="3648456"/>
            <a:ext cx="153619" cy="45720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6967728" y="3831336"/>
            <a:ext cx="1234440" cy="219456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7013448" y="3922776"/>
            <a:ext cx="153619" cy="45720"/>
          </a:xfrm>
          <a:prstGeom prst="rect">
            <a:avLst/>
          </a:prstGeom>
          <a:solidFill>
            <a:srgbClr val="F59E0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7185355" y="3922776"/>
            <a:ext cx="384048" cy="45720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7587691" y="3922776"/>
            <a:ext cx="281635" cy="45720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7887614" y="3922776"/>
            <a:ext cx="230429" cy="45720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8136331" y="3922776"/>
            <a:ext cx="153619" cy="45720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6967728" y="4105656"/>
            <a:ext cx="1234440" cy="219456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7013448" y="4197096"/>
            <a:ext cx="153619" cy="45720"/>
          </a:xfrm>
          <a:prstGeom prst="rect">
            <a:avLst/>
          </a:prstGeom>
          <a:solidFill>
            <a:srgbClr val="F59E0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7185355" y="4197096"/>
            <a:ext cx="384048" cy="45720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7587691" y="4197096"/>
            <a:ext cx="281635" cy="45720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7887614" y="4197096"/>
            <a:ext cx="230429" cy="45720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8136331" y="4197096"/>
            <a:ext cx="153619" cy="45720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6967728" y="4471416"/>
            <a:ext cx="1234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DC26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 类 / 1 行</a:t>
            </a:r>
            <a:endParaRPr lang="en-US" sz="700" dirty="0"/>
          </a:p>
        </p:txBody>
      </p:sp>
      <p:sp>
        <p:nvSpPr>
          <p:cNvPr id="93" name="Shape 91"/>
          <p:cNvSpPr/>
          <p:nvPr/>
        </p:nvSpPr>
        <p:spPr>
          <a:xfrm>
            <a:off x="8503920" y="4663440"/>
            <a:ext cx="384048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8503920" y="4663440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82296" cy="18288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621792" y="27432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2563E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 P2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02920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629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一致性债: 同一个东西有 N 种实现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457200" y="93268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这类债在改版时会被放大 -- 每处都要单独改, 漏一处就不一致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298448"/>
            <a:ext cx="8001000" cy="292608"/>
          </a:xfrm>
          <a:prstGeom prst="rect">
            <a:avLst/>
          </a:prstGeom>
          <a:solidFill>
            <a:srgbClr val="1629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1298448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现状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417320" y="12984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对象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2743200" y="1298448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具体位置与症状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57200" y="1627632"/>
            <a:ext cx="8001000" cy="438912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1627632"/>
            <a:ext cx="777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套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417320" y="1627632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统计卡实现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2743200" y="1627632"/>
            <a:ext cx="5760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8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common.py stat_card() / review.py:120 手写 / students.py:174 手写(还带多余闭合标签)</a:t>
            </a:r>
            <a:endParaRPr lang="en-US" sz="880" dirty="0"/>
          </a:p>
        </p:txBody>
      </p:sp>
      <p:sp>
        <p:nvSpPr>
          <p:cNvPr id="14" name="Shape 12"/>
          <p:cNvSpPr/>
          <p:nvPr/>
        </p:nvSpPr>
        <p:spPr>
          <a:xfrm>
            <a:off x="457200" y="2103120"/>
            <a:ext cx="8001000" cy="438912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2103120"/>
            <a:ext cx="777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种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417320" y="2103120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空状态写法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2743200" y="2103120"/>
            <a:ext cx="5760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8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st.info / st.success 表达无数据 / 手写 .mm-empty / st.caption</a:t>
            </a:r>
            <a:endParaRPr lang="en-US" sz="880" dirty="0"/>
          </a:p>
        </p:txBody>
      </p:sp>
      <p:sp>
        <p:nvSpPr>
          <p:cNvPr id="18" name="Shape 16"/>
          <p:cNvSpPr/>
          <p:nvPr/>
        </p:nvSpPr>
        <p:spPr>
          <a:xfrm>
            <a:off x="457200" y="2578608"/>
            <a:ext cx="8001000" cy="438912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66928" y="2578608"/>
            <a:ext cx="777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套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417320" y="2578608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状态色映射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2743200" y="2578608"/>
            <a:ext cx="5760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8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mastery.py:9 shaky=#94a3b8  vs  graph.py:12 shaky=#d97706</a:t>
            </a:r>
            <a:endParaRPr lang="en-US" sz="880" dirty="0"/>
          </a:p>
        </p:txBody>
      </p:sp>
      <p:sp>
        <p:nvSpPr>
          <p:cNvPr id="22" name="Shape 20"/>
          <p:cNvSpPr/>
          <p:nvPr/>
        </p:nvSpPr>
        <p:spPr>
          <a:xfrm>
            <a:off x="457200" y="3054096"/>
            <a:ext cx="8001000" cy="438912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66928" y="3054096"/>
            <a:ext cx="777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套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1417320" y="3054096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标题层级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2743200" y="3054096"/>
            <a:ext cx="5760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8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page_header / st.subheader / st.markdown("####"), students.py 一页两个 page_header</a:t>
            </a:r>
            <a:endParaRPr lang="en-US" sz="880" dirty="0"/>
          </a:p>
        </p:txBody>
      </p:sp>
      <p:sp>
        <p:nvSpPr>
          <p:cNvPr id="26" name="Shape 24"/>
          <p:cNvSpPr/>
          <p:nvPr/>
        </p:nvSpPr>
        <p:spPr>
          <a:xfrm>
            <a:off x="457200" y="3529584"/>
            <a:ext cx="8001000" cy="438912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66928" y="3529584"/>
            <a:ext cx="777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处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417320" y="3529584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徽章裸拼字符串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2743200" y="3529584"/>
            <a:ext cx="5760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8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review / tutor / mastery / graph / assistant / settings 各写各的 f-string</a:t>
            </a:r>
            <a:endParaRPr lang="en-US" sz="880" dirty="0"/>
          </a:p>
        </p:txBody>
      </p:sp>
      <p:sp>
        <p:nvSpPr>
          <p:cNvPr id="30" name="Shape 28"/>
          <p:cNvSpPr/>
          <p:nvPr/>
        </p:nvSpPr>
        <p:spPr>
          <a:xfrm>
            <a:off x="457200" y="4005072"/>
            <a:ext cx="8001000" cy="438912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66928" y="4005072"/>
            <a:ext cx="777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处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1417320" y="4005072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i18n 实际使用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2743200" y="4005072"/>
            <a:ext cx="5760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8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框架存在, 但 9 个页面全是硬编码中文</a:t>
            </a:r>
            <a:endParaRPr lang="en-US" sz="880" dirty="0"/>
          </a:p>
        </p:txBody>
      </p:sp>
      <p:sp>
        <p:nvSpPr>
          <p:cNvPr id="34" name="Shape 32"/>
          <p:cNvSpPr/>
          <p:nvPr/>
        </p:nvSpPr>
        <p:spPr>
          <a:xfrm>
            <a:off x="457200" y="4553712"/>
            <a:ext cx="8001000" cy="384048"/>
          </a:xfrm>
          <a:prstGeom prst="roundRect">
            <a:avLst>
              <a:gd name="adj" fmla="val 11905"/>
            </a:avLst>
          </a:prstGeom>
          <a:solidFill>
            <a:srgbClr val="EFF6FF"/>
          </a:solidFill>
          <a:ln w="9525">
            <a:solidFill>
              <a:srgbClr val="BFDBF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57200" y="4553712"/>
            <a:ext cx="45720" cy="384048"/>
          </a:xfrm>
          <a:prstGeom prst="rect">
            <a:avLst/>
          </a:prstGeom>
          <a:solidFill>
            <a:srgbClr val="2563E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4553712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3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结论: 改版前必须先做跨页基建 -- 统一 badge() / empty_state() / stat_card() 三个原语, 抽出单一 mastery_color() 映射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8503920" y="4663440"/>
            <a:ext cx="384048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503920" y="4663440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82296" cy="18288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621792" y="27432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2563E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 EVIDENCE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02920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629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现状实拍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457200" y="93268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取自 docs/screenshots/, v2.9.0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280160"/>
            <a:ext cx="205740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12700" dir="5400000">
              <a:srgbClr val="1F2937">
                <a:alpha val="6000"/>
              </a:srgbClr>
            </a:outerShdw>
          </a:effectLst>
        </p:spPr>
      </p:sp>
      <p:pic>
        <p:nvPicPr>
          <p:cNvPr id="7" name="Image 0" descr="../screenshots/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1316736"/>
            <a:ext cx="1984248" cy="129844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2688336"/>
            <a:ext cx="2057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29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学情看板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457200" y="2871216"/>
            <a:ext cx="2057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横幅占 1/4 屏; 8 个等权重盒子</a:t>
            </a:r>
            <a:endParaRPr lang="en-US" sz="750" dirty="0"/>
          </a:p>
        </p:txBody>
      </p:sp>
      <p:sp>
        <p:nvSpPr>
          <p:cNvPr id="10" name="Shape 7"/>
          <p:cNvSpPr/>
          <p:nvPr/>
        </p:nvSpPr>
        <p:spPr>
          <a:xfrm>
            <a:off x="2697480" y="1280160"/>
            <a:ext cx="205740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12700" dir="5400000">
              <a:srgbClr val="1F2937">
                <a:alpha val="6000"/>
              </a:srgbClr>
            </a:outerShdw>
          </a:effectLst>
        </p:spPr>
      </p:sp>
      <p:pic>
        <p:nvPicPr>
          <p:cNvPr id="11" name="Image 1" descr="../screenshots/noteboo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4056" y="1316736"/>
            <a:ext cx="1984248" cy="129844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2697480" y="2688336"/>
            <a:ext cx="2057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29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错题本</a:t>
            </a:r>
            <a:endParaRPr lang="en-US" sz="1000" dirty="0"/>
          </a:p>
        </p:txBody>
      </p:sp>
      <p:sp>
        <p:nvSpPr>
          <p:cNvPr id="13" name="Text 9"/>
          <p:cNvSpPr/>
          <p:nvPr/>
        </p:nvSpPr>
        <p:spPr>
          <a:xfrm>
            <a:off x="2697480" y="2871216"/>
            <a:ext cx="2057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筛选区占首屏大半; 列表无缩略图</a:t>
            </a:r>
            <a:endParaRPr lang="en-US" sz="750" dirty="0"/>
          </a:p>
        </p:txBody>
      </p:sp>
      <p:sp>
        <p:nvSpPr>
          <p:cNvPr id="14" name="Shape 10"/>
          <p:cNvSpPr/>
          <p:nvPr/>
        </p:nvSpPr>
        <p:spPr>
          <a:xfrm>
            <a:off x="457200" y="3108960"/>
            <a:ext cx="205740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12700" dir="5400000">
              <a:srgbClr val="1F2937">
                <a:alpha val="6000"/>
              </a:srgbClr>
            </a:outerShdw>
          </a:effectLst>
        </p:spPr>
      </p:sp>
      <p:pic>
        <p:nvPicPr>
          <p:cNvPr id="15" name="Image 2" descr="../screenshots/revie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776" y="3145536"/>
            <a:ext cx="1984248" cy="1298448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457200" y="4517136"/>
            <a:ext cx="2057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29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今日复习</a:t>
            </a:r>
            <a:endParaRPr lang="en-US" sz="1000" dirty="0"/>
          </a:p>
        </p:txBody>
      </p:sp>
      <p:sp>
        <p:nvSpPr>
          <p:cNvPr id="17" name="Text 12"/>
          <p:cNvSpPr/>
          <p:nvPr/>
        </p:nvSpPr>
        <p:spPr>
          <a:xfrm>
            <a:off x="457200" y="4700016"/>
            <a:ext cx="2057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崩溃态: traceback 直接打屏</a:t>
            </a:r>
            <a:endParaRPr lang="en-US" sz="750" dirty="0"/>
          </a:p>
        </p:txBody>
      </p:sp>
      <p:sp>
        <p:nvSpPr>
          <p:cNvPr id="18" name="Shape 13"/>
          <p:cNvSpPr/>
          <p:nvPr/>
        </p:nvSpPr>
        <p:spPr>
          <a:xfrm>
            <a:off x="2697480" y="3108960"/>
            <a:ext cx="205740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12700" dir="5400000">
              <a:srgbClr val="1F2937">
                <a:alpha val="6000"/>
              </a:srgbClr>
            </a:outerShdw>
          </a:effectLst>
        </p:spPr>
      </p:sp>
      <p:pic>
        <p:nvPicPr>
          <p:cNvPr id="19" name="Image 3" descr="../screenshots/tuto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34056" y="3145536"/>
            <a:ext cx="1984248" cy="1298448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2697480" y="4517136"/>
            <a:ext cx="2057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29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录题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2697480" y="4700016"/>
            <a:ext cx="2057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上传控件仅 40px 高; 下方 45% 浪费</a:t>
            </a:r>
            <a:endParaRPr lang="en-US" sz="750" dirty="0"/>
          </a:p>
        </p:txBody>
      </p:sp>
      <p:sp>
        <p:nvSpPr>
          <p:cNvPr id="22" name="Shape 16"/>
          <p:cNvSpPr/>
          <p:nvPr/>
        </p:nvSpPr>
        <p:spPr>
          <a:xfrm>
            <a:off x="4937760" y="1280160"/>
            <a:ext cx="3520440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12700" dir="5400000">
              <a:srgbClr val="1F2937">
                <a:alpha val="6000"/>
              </a:srgbClr>
            </a:outerShdw>
          </a:effectLst>
        </p:spPr>
      </p:sp>
      <p:sp>
        <p:nvSpPr>
          <p:cNvPr id="23" name="Shape 17"/>
          <p:cNvSpPr/>
          <p:nvPr/>
        </p:nvSpPr>
        <p:spPr>
          <a:xfrm>
            <a:off x="4937760" y="1280160"/>
            <a:ext cx="3520440" cy="45720"/>
          </a:xfrm>
          <a:prstGeom prst="rect">
            <a:avLst/>
          </a:prstGeom>
          <a:solidFill>
            <a:srgbClr val="2563E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18"/>
          <p:cNvSpPr/>
          <p:nvPr/>
        </p:nvSpPr>
        <p:spPr>
          <a:xfrm>
            <a:off x="5120640" y="1426464"/>
            <a:ext cx="3154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9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四张图共同暴露的问题</a:t>
            </a:r>
            <a:endParaRPr lang="en-US" sz="1150" dirty="0"/>
          </a:p>
        </p:txBody>
      </p:sp>
      <p:sp>
        <p:nvSpPr>
          <p:cNvPr id="25" name="Shape 19"/>
          <p:cNvSpPr/>
          <p:nvPr/>
        </p:nvSpPr>
        <p:spPr>
          <a:xfrm>
            <a:off x="5120640" y="1783080"/>
            <a:ext cx="64008" cy="6400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6" name="Text 20"/>
          <p:cNvSpPr/>
          <p:nvPr/>
        </p:nvSpPr>
        <p:spPr>
          <a:xfrm>
            <a:off x="5285232" y="1691640"/>
            <a:ext cx="3035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没有一个页面回答"我现在该做什么"</a:t>
            </a:r>
            <a:endParaRPr lang="en-US" sz="900" dirty="0"/>
          </a:p>
        </p:txBody>
      </p:sp>
      <p:sp>
        <p:nvSpPr>
          <p:cNvPr id="27" name="Shape 21"/>
          <p:cNvSpPr/>
          <p:nvPr/>
        </p:nvSpPr>
        <p:spPr>
          <a:xfrm>
            <a:off x="5120640" y="2148840"/>
            <a:ext cx="64008" cy="6400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8" name="Text 22"/>
          <p:cNvSpPr/>
          <p:nvPr/>
        </p:nvSpPr>
        <p:spPr>
          <a:xfrm>
            <a:off x="5285232" y="2057400"/>
            <a:ext cx="3035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视觉层级靠盒子堆叠, 不是靠留白和权重</a:t>
            </a:r>
            <a:endParaRPr lang="en-US" sz="900" dirty="0"/>
          </a:p>
        </p:txBody>
      </p:sp>
      <p:sp>
        <p:nvSpPr>
          <p:cNvPr id="29" name="Shape 23"/>
          <p:cNvSpPr/>
          <p:nvPr/>
        </p:nvSpPr>
        <p:spPr>
          <a:xfrm>
            <a:off x="5120640" y="2514600"/>
            <a:ext cx="64008" cy="6400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0" name="Text 24"/>
          <p:cNvSpPr/>
          <p:nvPr/>
        </p:nvSpPr>
        <p:spPr>
          <a:xfrm>
            <a:off x="5285232" y="2423160"/>
            <a:ext cx="3035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状态信息没有颜色编码, 全部退化成文字</a:t>
            </a:r>
            <a:endParaRPr lang="en-US" sz="900" dirty="0"/>
          </a:p>
        </p:txBody>
      </p:sp>
      <p:sp>
        <p:nvSpPr>
          <p:cNvPr id="31" name="Shape 25"/>
          <p:cNvSpPr/>
          <p:nvPr/>
        </p:nvSpPr>
        <p:spPr>
          <a:xfrm>
            <a:off x="4937760" y="3108960"/>
            <a:ext cx="3520440" cy="1600200"/>
          </a:xfrm>
          <a:prstGeom prst="roundRect">
            <a:avLst>
              <a:gd name="adj" fmla="val 3429"/>
            </a:avLst>
          </a:prstGeom>
          <a:solidFill>
            <a:srgbClr val="FFFBEB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12700" dir="5400000">
              <a:srgbClr val="1F2937">
                <a:alpha val="6000"/>
              </a:srgbClr>
            </a:outerShdw>
          </a:effectLst>
        </p:spPr>
      </p:sp>
      <p:sp>
        <p:nvSpPr>
          <p:cNvPr id="32" name="Shape 26"/>
          <p:cNvSpPr/>
          <p:nvPr/>
        </p:nvSpPr>
        <p:spPr>
          <a:xfrm>
            <a:off x="4937760" y="3108960"/>
            <a:ext cx="3520440" cy="45720"/>
          </a:xfrm>
          <a:prstGeom prst="rect">
            <a:avLst/>
          </a:prstGeom>
          <a:solidFill>
            <a:srgbClr val="D9770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27"/>
          <p:cNvSpPr/>
          <p:nvPr/>
        </p:nvSpPr>
        <p:spPr>
          <a:xfrm>
            <a:off x="5120640" y="3255264"/>
            <a:ext cx="3154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9770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但配色本身是对的</a:t>
            </a:r>
            <a:endParaRPr lang="en-US" sz="1150" dirty="0"/>
          </a:p>
        </p:txBody>
      </p:sp>
      <p:sp>
        <p:nvSpPr>
          <p:cNvPr id="34" name="Text 28"/>
          <p:cNvSpPr/>
          <p:nvPr/>
        </p:nvSpPr>
        <p:spPr>
          <a:xfrm>
            <a:off x="5120640" y="3547872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92400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MUJI 藏青 + 克制留白的判断是准确的, 无紫无炫技动效. 本方案予以保留, 改的是层级与密度, 不是审美口味.</a:t>
            </a:r>
            <a:endParaRPr lang="en-US" sz="900" dirty="0"/>
          </a:p>
        </p:txBody>
      </p:sp>
      <p:sp>
        <p:nvSpPr>
          <p:cNvPr id="35" name="Shape 29"/>
          <p:cNvSpPr/>
          <p:nvPr/>
        </p:nvSpPr>
        <p:spPr>
          <a:xfrm>
            <a:off x="8503920" y="4663440"/>
            <a:ext cx="384048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36" name="Text 30"/>
          <p:cNvSpPr/>
          <p:nvPr/>
        </p:nvSpPr>
        <p:spPr>
          <a:xfrm>
            <a:off x="8503920" y="4663440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629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926080" cy="5143500"/>
          </a:xfrm>
          <a:prstGeom prst="rect">
            <a:avLst/>
          </a:prstGeom>
          <a:solidFill>
            <a:srgbClr val="0F1F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73736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2C5A9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9600" dirty="0"/>
          </a:p>
        </p:txBody>
      </p:sp>
      <p:sp>
        <p:nvSpPr>
          <p:cNvPr id="4" name="Text 2"/>
          <p:cNvSpPr/>
          <p:nvPr/>
        </p:nvSpPr>
        <p:spPr>
          <a:xfrm>
            <a:off x="3383280" y="1965960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设计原则与系统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3383280" y="2606040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A9BCD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改版过程中出现取舍冲突时, 按优先级从上往下判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8503920" y="4663440"/>
            <a:ext cx="384048" cy="256032"/>
          </a:xfrm>
          <a:prstGeom prst="rect">
            <a:avLst/>
          </a:prstGeom>
          <a:solidFill>
            <a:srgbClr val="0F1F3A"/>
          </a:solidFill>
          <a:ln w="9525">
            <a:solidFill>
              <a:srgbClr val="2C5A9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03920" y="4663440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FB4D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82296" cy="18288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621792" y="27432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2563E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 PRINCIPLES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02920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629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四条设计原则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457200" y="93268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后面所有取舍都按这四条判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371600"/>
            <a:ext cx="4023360" cy="1536192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12700" dir="5400000">
              <a:srgbClr val="1F2937">
                <a:alpha val="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371600"/>
            <a:ext cx="4023360" cy="45720"/>
          </a:xfrm>
          <a:prstGeom prst="rect">
            <a:avLst/>
          </a:prstGeom>
          <a:solidFill>
            <a:srgbClr val="2563E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58368" y="1554480"/>
            <a:ext cx="384048" cy="384048"/>
          </a:xfrm>
          <a:prstGeom prst="roundRect">
            <a:avLst>
              <a:gd name="adj" fmla="val 11905"/>
            </a:avLst>
          </a:prstGeom>
          <a:solidFill>
            <a:srgbClr val="1629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554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152144" y="1536192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9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任务优先于功能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152144" y="1792224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563E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用户打开应用的第一问是"今天该复习什么"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58368" y="2084832"/>
            <a:ext cx="3621024" cy="10973"/>
          </a:xfrm>
          <a:prstGeom prst="rect">
            <a:avLst/>
          </a:prstGeom>
          <a:solidFill>
            <a:srgbClr val="E5E7E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8368" y="2176272"/>
            <a:ext cx="36210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2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不是"这个应用有哪些功能". 看板第一屏必须给出可执行的下一步, 而不是一堆数字. 功能入口退居侧边栏.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663440" y="1371600"/>
            <a:ext cx="4023360" cy="1536192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12700" dir="5400000">
              <a:srgbClr val="1F2937">
                <a:alpha val="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663440" y="1371600"/>
            <a:ext cx="4023360" cy="45720"/>
          </a:xfrm>
          <a:prstGeom prst="rect">
            <a:avLst/>
          </a:prstGeom>
          <a:solidFill>
            <a:srgbClr val="2563E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864608" y="1554480"/>
            <a:ext cx="384048" cy="384048"/>
          </a:xfrm>
          <a:prstGeom prst="roundRect">
            <a:avLst>
              <a:gd name="adj" fmla="val 11905"/>
            </a:avLst>
          </a:prstGeom>
          <a:solidFill>
            <a:srgbClr val="1629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64608" y="1554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358384" y="1536192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9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数据必须可扫读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358384" y="1792224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563E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一行文本超过 3 类信息就该拆开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864608" y="2084832"/>
            <a:ext cx="3621024" cy="10973"/>
          </a:xfrm>
          <a:prstGeom prst="rect">
            <a:avLst/>
          </a:prstGeom>
          <a:solidFill>
            <a:srgbClr val="E5E7E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64608" y="2176272"/>
            <a:ext cx="36210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2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掌握度用色环加颜色编码, 状态用图标. 颜色只承载一个含义: 红=薄弱 / 琥珀=待复习 / 绿=已掌握.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57200" y="3063240"/>
            <a:ext cx="4023360" cy="1536192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12700" dir="5400000">
              <a:srgbClr val="1F2937">
                <a:alpha val="6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57200" y="3063240"/>
            <a:ext cx="4023360" cy="45720"/>
          </a:xfrm>
          <a:prstGeom prst="rect">
            <a:avLst/>
          </a:prstGeom>
          <a:solidFill>
            <a:srgbClr val="2563E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58368" y="3246120"/>
            <a:ext cx="384048" cy="384048"/>
          </a:xfrm>
          <a:prstGeom prst="roundRect">
            <a:avLst>
              <a:gd name="adj" fmla="val 11905"/>
            </a:avLst>
          </a:prstGeom>
          <a:solidFill>
            <a:srgbClr val="1629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58368" y="3246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152144" y="3227832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9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默认折叠次要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152144" y="3483864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563E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低频操作不该常驻在首屏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58368" y="3776472"/>
            <a:ext cx="3621024" cy="10973"/>
          </a:xfrm>
          <a:prstGeom prst="rect">
            <a:avLst/>
          </a:prstGeom>
          <a:solidFill>
            <a:srgbClr val="E5E7E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58368" y="3867912"/>
            <a:ext cx="36210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2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筛选项 / 导出格式 / 难度分布收进抽屉或菜单, 用 chip 显式回显当前生效的条件, 让用户知道自己处在什么视图里.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4663440" y="3063240"/>
            <a:ext cx="4023360" cy="1536192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12700" dir="5400000">
              <a:srgbClr val="1F2937">
                <a:alpha val="6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663440" y="3063240"/>
            <a:ext cx="4023360" cy="45720"/>
          </a:xfrm>
          <a:prstGeom prst="rect">
            <a:avLst/>
          </a:prstGeom>
          <a:solidFill>
            <a:srgbClr val="2563E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864608" y="3246120"/>
            <a:ext cx="384048" cy="384048"/>
          </a:xfrm>
          <a:prstGeom prst="roundRect">
            <a:avLst>
              <a:gd name="adj" fmla="val 11905"/>
            </a:avLst>
          </a:prstGeom>
          <a:solidFill>
            <a:srgbClr val="1629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864608" y="3246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5358384" y="3227832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9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保留 MUJI 骨相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5358384" y="3483864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563E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克制的配色判断是对的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864608" y="3776472"/>
            <a:ext cx="3621024" cy="10973"/>
          </a:xfrm>
          <a:prstGeom prst="rect">
            <a:avLst/>
          </a:prstGeom>
          <a:solidFill>
            <a:srgbClr val="E5E7E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864608" y="3867912"/>
            <a:ext cx="36210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2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本方案予以保留, 改的是层级与密度, 不是审美口味. 藏青标题 / 石板灰正文 / 蓝色点缀, 大量留白.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8503920" y="4663440"/>
            <a:ext cx="384048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503920" y="4663440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82296" cy="18288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621792" y="27432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2563E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 TOKENS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02920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629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色彩系统: 新增三档掌握度语义色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457200" y="93268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阈值直接对齐后端引擎, 前端不再自己定义一套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298448"/>
            <a:ext cx="5577840" cy="274320"/>
          </a:xfrm>
          <a:prstGeom prst="rect">
            <a:avLst/>
          </a:prstGeom>
          <a:solidFill>
            <a:srgbClr val="1629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80160" y="1298448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Token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560320" y="129844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语义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474720" y="129844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用途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57200" y="1609344"/>
            <a:ext cx="5577840" cy="475488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03504" y="1709928"/>
            <a:ext cx="274320" cy="274320"/>
          </a:xfrm>
          <a:prstGeom prst="roundRect">
            <a:avLst>
              <a:gd name="adj" fmla="val 13333"/>
            </a:avLst>
          </a:prstGeom>
          <a:solidFill>
            <a:srgbClr val="16294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50976" y="1609344"/>
            <a:ext cx="6583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16294A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1627632" y="1609344"/>
            <a:ext cx="914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629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--navy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560320" y="1609344"/>
            <a:ext cx="868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品牌深色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3474720" y="1609344"/>
            <a:ext cx="24871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76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标题 / Hero / 主按钮底色. 较原 #1a365d 略深, 压得住大色块</a:t>
            </a:r>
            <a:endParaRPr lang="en-US" sz="760" dirty="0"/>
          </a:p>
        </p:txBody>
      </p:sp>
      <p:sp>
        <p:nvSpPr>
          <p:cNvPr id="16" name="Shape 14"/>
          <p:cNvSpPr/>
          <p:nvPr/>
        </p:nvSpPr>
        <p:spPr>
          <a:xfrm>
            <a:off x="457200" y="2121408"/>
            <a:ext cx="5577840" cy="475488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03504" y="2221992"/>
            <a:ext cx="274320" cy="274320"/>
          </a:xfrm>
          <a:prstGeom prst="roundRect">
            <a:avLst>
              <a:gd name="adj" fmla="val 13333"/>
            </a:avLst>
          </a:prstGeom>
          <a:solidFill>
            <a:srgbClr val="2563EB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50976" y="2121408"/>
            <a:ext cx="6583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2563EB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1627632" y="2121408"/>
            <a:ext cx="914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629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--brand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560320" y="2121408"/>
            <a:ext cx="868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交互蓝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3474720" y="2121408"/>
            <a:ext cx="24871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76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可点击元素 / 当前选中态 / 进度条</a:t>
            </a:r>
            <a:endParaRPr lang="en-US" sz="760" dirty="0"/>
          </a:p>
        </p:txBody>
      </p:sp>
      <p:sp>
        <p:nvSpPr>
          <p:cNvPr id="22" name="Shape 20"/>
          <p:cNvSpPr/>
          <p:nvPr/>
        </p:nvSpPr>
        <p:spPr>
          <a:xfrm>
            <a:off x="457200" y="2633472"/>
            <a:ext cx="5577840" cy="475488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03504" y="2734056"/>
            <a:ext cx="274320" cy="274320"/>
          </a:xfrm>
          <a:prstGeom prst="roundRect">
            <a:avLst>
              <a:gd name="adj" fmla="val 13333"/>
            </a:avLst>
          </a:prstGeom>
          <a:solidFill>
            <a:srgbClr val="DC2626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50976" y="2633472"/>
            <a:ext cx="6583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DC2626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1627632" y="2633472"/>
            <a:ext cx="914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629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--weak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2560320" y="2633472"/>
            <a:ext cx="868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薄弱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3474720" y="2633472"/>
            <a:ext cx="24871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76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掌握度 &lt; 40%, 与后端 WEAK_THRESHOLD 同源</a:t>
            </a:r>
            <a:endParaRPr lang="en-US" sz="760" dirty="0"/>
          </a:p>
        </p:txBody>
      </p:sp>
      <p:sp>
        <p:nvSpPr>
          <p:cNvPr id="28" name="Shape 26"/>
          <p:cNvSpPr/>
          <p:nvPr/>
        </p:nvSpPr>
        <p:spPr>
          <a:xfrm>
            <a:off x="457200" y="3145536"/>
            <a:ext cx="5577840" cy="475488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03504" y="3246120"/>
            <a:ext cx="274320" cy="274320"/>
          </a:xfrm>
          <a:prstGeom prst="roundRect">
            <a:avLst>
              <a:gd name="adj" fmla="val 13333"/>
            </a:avLst>
          </a:prstGeom>
          <a:solidFill>
            <a:srgbClr val="D97706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50976" y="3145536"/>
            <a:ext cx="6583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D97706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1627632" y="3145536"/>
            <a:ext cx="914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629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--shaky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2560320" y="3145536"/>
            <a:ext cx="868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不稳固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3474720" y="3145536"/>
            <a:ext cx="24871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76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掌握度 40%-70% 或待复习, 与 SHAKY_THRESHOLD 同源</a:t>
            </a:r>
            <a:endParaRPr lang="en-US" sz="760" dirty="0"/>
          </a:p>
        </p:txBody>
      </p:sp>
      <p:sp>
        <p:nvSpPr>
          <p:cNvPr id="34" name="Shape 32"/>
          <p:cNvSpPr/>
          <p:nvPr/>
        </p:nvSpPr>
        <p:spPr>
          <a:xfrm>
            <a:off x="457200" y="3657600"/>
            <a:ext cx="5577840" cy="475488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03504" y="3758184"/>
            <a:ext cx="274320" cy="274320"/>
          </a:xfrm>
          <a:prstGeom prst="roundRect">
            <a:avLst>
              <a:gd name="adj" fmla="val 13333"/>
            </a:avLst>
          </a:prstGeom>
          <a:solidFill>
            <a:srgbClr val="05966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50976" y="3657600"/>
            <a:ext cx="6583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059669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1627632" y="3657600"/>
            <a:ext cx="914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629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--good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2560320" y="3657600"/>
            <a:ext cx="868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已掌握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3474720" y="3657600"/>
            <a:ext cx="24871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76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掌握度 &gt; 70% 或数学验证通过</a:t>
            </a:r>
            <a:endParaRPr lang="en-US" sz="760" dirty="0"/>
          </a:p>
        </p:txBody>
      </p:sp>
      <p:sp>
        <p:nvSpPr>
          <p:cNvPr id="40" name="Shape 38"/>
          <p:cNvSpPr/>
          <p:nvPr/>
        </p:nvSpPr>
        <p:spPr>
          <a:xfrm>
            <a:off x="457200" y="4169664"/>
            <a:ext cx="5577840" cy="475488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03504" y="4270248"/>
            <a:ext cx="274320" cy="274320"/>
          </a:xfrm>
          <a:prstGeom prst="roundRect">
            <a:avLst>
              <a:gd name="adj" fmla="val 13333"/>
            </a:avLst>
          </a:prstGeom>
          <a:solidFill>
            <a:srgbClr val="F7F8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50976" y="4169664"/>
            <a:ext cx="6583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F7F8FA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1627632" y="4169664"/>
            <a:ext cx="914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629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--bg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2560320" y="4169664"/>
            <a:ext cx="868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页面底色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3474720" y="4169664"/>
            <a:ext cx="24871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76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较 #f8fafc 略暖, 接近纸张</a:t>
            </a:r>
            <a:endParaRPr lang="en-US" sz="760" dirty="0"/>
          </a:p>
        </p:txBody>
      </p:sp>
      <p:sp>
        <p:nvSpPr>
          <p:cNvPr id="46" name="Shape 44"/>
          <p:cNvSpPr/>
          <p:nvPr/>
        </p:nvSpPr>
        <p:spPr>
          <a:xfrm>
            <a:off x="6172200" y="1298448"/>
            <a:ext cx="228600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12700" dir="5400000">
              <a:srgbClr val="1F2937">
                <a:alpha val="6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6172200" y="1298448"/>
            <a:ext cx="2286000" cy="45720"/>
          </a:xfrm>
          <a:prstGeom prst="rect">
            <a:avLst/>
          </a:prstGeom>
          <a:solidFill>
            <a:srgbClr val="2563E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355080" y="1444752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9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三档刻度</a:t>
            </a:r>
            <a:endParaRPr lang="en-US" sz="1150" dirty="0"/>
          </a:p>
        </p:txBody>
      </p:sp>
      <p:sp>
        <p:nvSpPr>
          <p:cNvPr id="49" name="Text 47"/>
          <p:cNvSpPr/>
          <p:nvPr/>
        </p:nvSpPr>
        <p:spPr>
          <a:xfrm>
            <a:off x="6355080" y="177393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C26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薄弱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6858000" y="1773936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 40%</a:t>
            </a:r>
            <a:endParaRPr lang="en-US" sz="750" dirty="0"/>
          </a:p>
        </p:txBody>
      </p:sp>
      <p:sp>
        <p:nvSpPr>
          <p:cNvPr id="51" name="Shape 49"/>
          <p:cNvSpPr/>
          <p:nvPr/>
        </p:nvSpPr>
        <p:spPr>
          <a:xfrm>
            <a:off x="6355080" y="1975104"/>
            <a:ext cx="1920240" cy="91440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6355080" y="1975104"/>
            <a:ext cx="768096" cy="9144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355080" y="217627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不稳固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6858000" y="2176272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40% - 70%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6355080" y="2377440"/>
            <a:ext cx="1920240" cy="91440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355080" y="2377440"/>
            <a:ext cx="1190549" cy="9144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355080" y="257860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已掌握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6858000" y="2578608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 70%</a:t>
            </a:r>
            <a:endParaRPr lang="en-US" sz="750" dirty="0"/>
          </a:p>
        </p:txBody>
      </p:sp>
      <p:sp>
        <p:nvSpPr>
          <p:cNvPr id="59" name="Shape 57"/>
          <p:cNvSpPr/>
          <p:nvPr/>
        </p:nvSpPr>
        <p:spPr>
          <a:xfrm>
            <a:off x="6355080" y="2779776"/>
            <a:ext cx="1920240" cy="91440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6355080" y="2779776"/>
            <a:ext cx="1766621" cy="9144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6172200" y="3200400"/>
            <a:ext cx="2286000" cy="1627632"/>
          </a:xfrm>
          <a:prstGeom prst="roundRect">
            <a:avLst>
              <a:gd name="adj" fmla="val 3371"/>
            </a:avLst>
          </a:prstGeom>
          <a:solidFill>
            <a:srgbClr val="FEF2F2"/>
          </a:solidFill>
          <a:ln w="9525">
            <a:solidFill>
              <a:srgbClr val="FECACA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355080" y="3346704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一条硬约束</a:t>
            </a:r>
            <a:endParaRPr lang="en-US" sz="1050" dirty="0"/>
          </a:p>
        </p:txBody>
      </p:sp>
      <p:sp>
        <p:nvSpPr>
          <p:cNvPr id="63" name="Text 61"/>
          <p:cNvSpPr/>
          <p:nvPr/>
        </p:nvSpPr>
        <p:spPr>
          <a:xfrm>
            <a:off x="6355080" y="3621024"/>
            <a:ext cx="19385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92400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三档色只用于表达掌握度与状态, 不用于装饰. 一个界面上红色出现超过 3 处, 就说明层级出了问题 -- 应该把它折叠进"薄弱"筛选, 而不是全量铺开.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8503920" y="4663440"/>
            <a:ext cx="384048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8503920" y="4663440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82296" cy="18288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621792" y="27432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2563E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 FOUNDATION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02920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629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先修地基: 深色模式变量化 + 五个跨页原语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457200" y="93268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这五步做完, 后面每页改版才不会逐个漏改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3977640" cy="1938528"/>
          </a:xfrm>
          <a:prstGeom prst="roundRect">
            <a:avLst>
              <a:gd name="adj" fmla="val 2830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12700" dir="5400000">
              <a:srgbClr val="1F2937">
                <a:alpha val="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325880"/>
            <a:ext cx="3977640" cy="45720"/>
          </a:xfrm>
          <a:prstGeom prst="rect">
            <a:avLst/>
          </a:prstGeom>
          <a:solidFill>
            <a:srgbClr val="D9770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463040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9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深色模式: 覆盖式改为变量对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1773936"/>
            <a:ext cx="1691640" cy="548640"/>
          </a:xfrm>
          <a:prstGeom prst="rect">
            <a:avLst/>
          </a:prstGeom>
          <a:solidFill>
            <a:srgbClr val="FEF2F2"/>
          </a:solidFill>
          <a:ln w="9525">
            <a:solidFill>
              <a:srgbClr val="FECAC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10512"/>
            <a:ext cx="1691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DC26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现状 theme.py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40080" y="1975104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92400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 条 !important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92400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逐个组件打补丁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2377440" y="1920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2697480" y="1773936"/>
            <a:ext cx="1737360" cy="548640"/>
          </a:xfrm>
          <a:prstGeom prst="rect">
            <a:avLst/>
          </a:prstGeom>
          <a:solidFill>
            <a:srgbClr val="ECFDF5"/>
          </a:solidFill>
          <a:ln w="9525">
            <a:solidFill>
              <a:srgbClr val="A7F3D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97480" y="1810512"/>
            <a:ext cx="1737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596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 CSS 变量对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2697480" y="1975104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0478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[data-theme=dark]</a:t>
            </a:r>
            <a:endParaRPr lang="en-US" sz="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0478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 --card; --ink; --line }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640080" y="2395728"/>
            <a:ext cx="3794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8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新组件只用变量, 自动适配双主题. 顺带修掉 settings.py:30 那句"刷新后失效"的半成品开关.</a:t>
            </a:r>
            <a:endParaRPr lang="en-US" sz="880" dirty="0"/>
          </a:p>
        </p:txBody>
      </p:sp>
      <p:sp>
        <p:nvSpPr>
          <p:cNvPr id="17" name="Text 15"/>
          <p:cNvSpPr/>
          <p:nvPr/>
        </p:nvSpPr>
        <p:spPr>
          <a:xfrm>
            <a:off x="4663440" y="1325880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9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五个跨页原语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663440" y="1645920"/>
            <a:ext cx="3749040" cy="54864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63440" y="1645920"/>
            <a:ext cx="45720" cy="548640"/>
          </a:xfrm>
          <a:prstGeom prst="rect">
            <a:avLst/>
          </a:prstGeom>
          <a:solidFill>
            <a:srgbClr val="2563E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28032" y="1691640"/>
            <a:ext cx="2331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629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badge(text, tone)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4828032" y="190195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6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个文件共 7 处各拼 f-string, 收敛成带 tone 的组件</a:t>
            </a:r>
            <a:endParaRPr lang="en-US" sz="760" dirty="0"/>
          </a:p>
        </p:txBody>
      </p:sp>
      <p:sp>
        <p:nvSpPr>
          <p:cNvPr id="22" name="Shape 20"/>
          <p:cNvSpPr/>
          <p:nvPr/>
        </p:nvSpPr>
        <p:spPr>
          <a:xfrm>
            <a:off x="7699248" y="1773936"/>
            <a:ext cx="603504" cy="292608"/>
          </a:xfrm>
          <a:prstGeom prst="roundRect">
            <a:avLst>
              <a:gd name="adj" fmla="val 12500"/>
            </a:avLst>
          </a:prstGeom>
          <a:solidFill>
            <a:srgbClr val="EFF6FF"/>
          </a:solidFill>
          <a:ln w="7620">
            <a:solidFill>
              <a:srgbClr val="BFDBF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699248" y="1773936"/>
            <a:ext cx="603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563E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 7 处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4663440" y="2267712"/>
            <a:ext cx="3749040" cy="54864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663440" y="2267712"/>
            <a:ext cx="45720" cy="548640"/>
          </a:xfrm>
          <a:prstGeom prst="rect">
            <a:avLst/>
          </a:prstGeom>
          <a:solidFill>
            <a:srgbClr val="2563E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28032" y="2313432"/>
            <a:ext cx="2331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629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empty_state(icon, title, action)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4828032" y="252374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6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种写法统一, 空状态同时给出下一步操作</a:t>
            </a:r>
            <a:endParaRPr lang="en-US" sz="760" dirty="0"/>
          </a:p>
        </p:txBody>
      </p:sp>
      <p:sp>
        <p:nvSpPr>
          <p:cNvPr id="28" name="Shape 26"/>
          <p:cNvSpPr/>
          <p:nvPr/>
        </p:nvSpPr>
        <p:spPr>
          <a:xfrm>
            <a:off x="7699248" y="2395728"/>
            <a:ext cx="603504" cy="292608"/>
          </a:xfrm>
          <a:prstGeom prst="roundRect">
            <a:avLst>
              <a:gd name="adj" fmla="val 12500"/>
            </a:avLst>
          </a:prstGeom>
          <a:solidFill>
            <a:srgbClr val="EFF6FF"/>
          </a:solidFill>
          <a:ln w="7620">
            <a:solidFill>
              <a:srgbClr val="BFDBF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699248" y="2395728"/>
            <a:ext cx="603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563E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 4 处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4663440" y="2889504"/>
            <a:ext cx="3749040" cy="54864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663440" y="2889504"/>
            <a:ext cx="45720" cy="548640"/>
          </a:xfrm>
          <a:prstGeom prst="rect">
            <a:avLst/>
          </a:prstGeom>
          <a:solidFill>
            <a:srgbClr val="2563E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828032" y="2935224"/>
            <a:ext cx="2331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629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stat_card() 回流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4828032" y="3145536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6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review.py / students.py 手写副本删掉, 统一走 common.py</a:t>
            </a:r>
            <a:endParaRPr lang="en-US" sz="760" dirty="0"/>
          </a:p>
        </p:txBody>
      </p:sp>
      <p:sp>
        <p:nvSpPr>
          <p:cNvPr id="34" name="Shape 32"/>
          <p:cNvSpPr/>
          <p:nvPr/>
        </p:nvSpPr>
        <p:spPr>
          <a:xfrm>
            <a:off x="7699248" y="3017520"/>
            <a:ext cx="603504" cy="292608"/>
          </a:xfrm>
          <a:prstGeom prst="roundRect">
            <a:avLst>
              <a:gd name="adj" fmla="val 12500"/>
            </a:avLst>
          </a:prstGeom>
          <a:solidFill>
            <a:srgbClr val="EFF6FF"/>
          </a:solidFill>
          <a:ln w="7620">
            <a:solidFill>
              <a:srgbClr val="BFDBFE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699248" y="3017520"/>
            <a:ext cx="603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563E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 2 处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4663440" y="3511296"/>
            <a:ext cx="3749040" cy="54864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663440" y="3511296"/>
            <a:ext cx="45720" cy="548640"/>
          </a:xfrm>
          <a:prstGeom prst="rect">
            <a:avLst/>
          </a:prstGeom>
          <a:solidFill>
            <a:srgbClr val="2563E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28032" y="3557016"/>
            <a:ext cx="2331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629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mastery_color(token)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4828032" y="376732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6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mastery.py 与 graph.py 的两套色表合并为单一来源</a:t>
            </a:r>
            <a:endParaRPr lang="en-US" sz="760" dirty="0"/>
          </a:p>
        </p:txBody>
      </p:sp>
      <p:sp>
        <p:nvSpPr>
          <p:cNvPr id="40" name="Shape 38"/>
          <p:cNvSpPr/>
          <p:nvPr/>
        </p:nvSpPr>
        <p:spPr>
          <a:xfrm>
            <a:off x="7699248" y="3639312"/>
            <a:ext cx="603504" cy="292608"/>
          </a:xfrm>
          <a:prstGeom prst="roundRect">
            <a:avLst>
              <a:gd name="adj" fmla="val 12500"/>
            </a:avLst>
          </a:prstGeom>
          <a:solidFill>
            <a:srgbClr val="EFF6FF"/>
          </a:solidFill>
          <a:ln w="7620">
            <a:solidFill>
              <a:srgbClr val="BFDBFE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699248" y="3639312"/>
            <a:ext cx="603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563E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 1 处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4663440" y="4133088"/>
            <a:ext cx="3749040" cy="548640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663440" y="4133088"/>
            <a:ext cx="45720" cy="548640"/>
          </a:xfrm>
          <a:prstGeom prst="rect">
            <a:avLst/>
          </a:prstGeom>
          <a:solidFill>
            <a:srgbClr val="2563E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828032" y="4178808"/>
            <a:ext cx="2331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629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safe_call(service, fn)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4828032" y="43891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6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 service 调用包一层, 异常转成 error_card 而非 traceback</a:t>
            </a:r>
            <a:endParaRPr lang="en-US" sz="760" dirty="0"/>
          </a:p>
        </p:txBody>
      </p:sp>
      <p:sp>
        <p:nvSpPr>
          <p:cNvPr id="46" name="Shape 44"/>
          <p:cNvSpPr/>
          <p:nvPr/>
        </p:nvSpPr>
        <p:spPr>
          <a:xfrm>
            <a:off x="7699248" y="4261104"/>
            <a:ext cx="603504" cy="292608"/>
          </a:xfrm>
          <a:prstGeom prst="roundRect">
            <a:avLst>
              <a:gd name="adj" fmla="val 12500"/>
            </a:avLst>
          </a:prstGeom>
          <a:solidFill>
            <a:srgbClr val="EFF6FF"/>
          </a:solidFill>
          <a:ln w="7620">
            <a:solidFill>
              <a:srgbClr val="BFDBFE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699248" y="4261104"/>
            <a:ext cx="603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563E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 7 页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457200" y="3401568"/>
            <a:ext cx="3977640" cy="1463040"/>
          </a:xfrm>
          <a:prstGeom prst="roundRect">
            <a:avLst>
              <a:gd name="adj" fmla="val 3750"/>
            </a:avLst>
          </a:prstGeom>
          <a:solidFill>
            <a:srgbClr val="EFF6FF"/>
          </a:solidFill>
          <a:ln w="9525">
            <a:solidFill>
              <a:srgbClr val="BFDBFE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40080" y="352958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3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为什么必须先做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640080" y="3785616"/>
            <a:ext cx="361188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1E3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49 处 HTML 字符串 + 8 处裸异常, 如果直接逐页改视觉, 这些点会被逐个漏改, 改完的版本会比分批改更不一致.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8503920" y="4663440"/>
            <a:ext cx="384048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8503920" y="4663440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629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926080" cy="5143500"/>
          </a:xfrm>
          <a:prstGeom prst="rect">
            <a:avLst/>
          </a:prstGeom>
          <a:solidFill>
            <a:srgbClr val="0F1F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73736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2C5A9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9600" dirty="0"/>
          </a:p>
        </p:txBody>
      </p:sp>
      <p:sp>
        <p:nvSpPr>
          <p:cNvPr id="4" name="Text 2"/>
          <p:cNvSpPr/>
          <p:nvPr/>
        </p:nvSpPr>
        <p:spPr>
          <a:xfrm>
            <a:off x="3383280" y="1965960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成品设计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3383280" y="2606040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A9BCD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四张高保真, 侧边栏与顶栏在四页之间保持一致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8503920" y="4663440"/>
            <a:ext cx="384048" cy="256032"/>
          </a:xfrm>
          <a:prstGeom prst="rect">
            <a:avLst/>
          </a:prstGeom>
          <a:solidFill>
            <a:srgbClr val="0F1F3A"/>
          </a:solidFill>
          <a:ln w="9525">
            <a:solidFill>
              <a:srgbClr val="2C5A9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03920" y="4663440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FB4D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82296" cy="18288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621792" y="27432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2563E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 MOCKUP 01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02920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629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学情看板: 把数据变成决策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457200" y="93268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第一屏直接回答"今天该做什么", 其余图表收进折叠区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87959" y="1243584"/>
            <a:ext cx="4813402" cy="36576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12700" dir="5400000">
              <a:srgbClr val="1F2937">
                <a:alpha val="6000"/>
              </a:srgbClr>
            </a:outerShdw>
          </a:effectLst>
        </p:spPr>
      </p:sp>
      <p:pic>
        <p:nvPicPr>
          <p:cNvPr id="7" name="Image 0" descr="assets/mock-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4535" y="1280160"/>
            <a:ext cx="4740250" cy="358444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806440" y="1280160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29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关键改动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806440" y="1517904"/>
            <a:ext cx="41148" cy="493776"/>
          </a:xfrm>
          <a:prstGeom prst="rect">
            <a:avLst/>
          </a:prstGeom>
          <a:solidFill>
            <a:srgbClr val="E5E7E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34456" y="1499616"/>
            <a:ext cx="2478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72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欢迎横幅 + 4 张统计卡 + 4 个操作按钮 = 8 个等权重盒子</a:t>
            </a:r>
            <a:endParaRPr lang="en-US" sz="720" dirty="0"/>
          </a:p>
        </p:txBody>
      </p:sp>
      <p:sp>
        <p:nvSpPr>
          <p:cNvPr id="11" name="Text 8"/>
          <p:cNvSpPr/>
          <p:nvPr/>
        </p:nvSpPr>
        <p:spPr>
          <a:xfrm>
            <a:off x="5934456" y="1746504"/>
            <a:ext cx="24780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860" b="1" dirty="0">
                <a:solidFill>
                  <a:srgbClr val="1629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今日行动卡: 主线一句话 + 可点的开始按钮 + 4 个内联 KPI</a:t>
            </a:r>
            <a:endParaRPr lang="en-US" sz="860" dirty="0"/>
          </a:p>
        </p:txBody>
      </p:sp>
      <p:sp>
        <p:nvSpPr>
          <p:cNvPr id="12" name="Shape 9"/>
          <p:cNvSpPr/>
          <p:nvPr/>
        </p:nvSpPr>
        <p:spPr>
          <a:xfrm>
            <a:off x="5806440" y="2084832"/>
            <a:ext cx="41148" cy="493776"/>
          </a:xfrm>
          <a:prstGeom prst="rect">
            <a:avLst/>
          </a:prstGeom>
          <a:solidFill>
            <a:srgbClr val="E5E7E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934456" y="2066544"/>
            <a:ext cx="2478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72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六个 Plotly 图表同尺寸同位置纵向堆叠</a:t>
            </a:r>
            <a:endParaRPr lang="en-US" sz="720" dirty="0"/>
          </a:p>
        </p:txBody>
      </p:sp>
      <p:sp>
        <p:nvSpPr>
          <p:cNvPr id="14" name="Text 11"/>
          <p:cNvSpPr/>
          <p:nvPr/>
        </p:nvSpPr>
        <p:spPr>
          <a:xfrm>
            <a:off x="5934456" y="2313432"/>
            <a:ext cx="24780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860" b="1" dirty="0">
                <a:solidFill>
                  <a:srgbClr val="1629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metric 条 (一行五个数字) + 2 个主图, 其余进 &lt;details&gt; 折叠</a:t>
            </a:r>
            <a:endParaRPr lang="en-US" sz="860" dirty="0"/>
          </a:p>
        </p:txBody>
      </p:sp>
      <p:sp>
        <p:nvSpPr>
          <p:cNvPr id="15" name="Shape 12"/>
          <p:cNvSpPr/>
          <p:nvPr/>
        </p:nvSpPr>
        <p:spPr>
          <a:xfrm>
            <a:off x="5806440" y="2651760"/>
            <a:ext cx="41148" cy="493776"/>
          </a:xfrm>
          <a:prstGeom prst="rect">
            <a:avLst/>
          </a:prstGeom>
          <a:solidFill>
            <a:srgbClr val="E5E7E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934456" y="2633472"/>
            <a:ext cx="2478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72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薄弱知识点只给百分比和一条橙条</a:t>
            </a:r>
            <a:endParaRPr lang="en-US" sz="720" dirty="0"/>
          </a:p>
        </p:txBody>
      </p:sp>
      <p:sp>
        <p:nvSpPr>
          <p:cNvPr id="17" name="Text 14"/>
          <p:cNvSpPr/>
          <p:nvPr/>
        </p:nvSpPr>
        <p:spPr>
          <a:xfrm>
            <a:off x="5934456" y="2880360"/>
            <a:ext cx="24780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860" b="1" dirty="0">
                <a:solidFill>
                  <a:srgbClr val="1629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加掌握度总览色环, 薄弱 Top 3 带题量并可直接跳错题本</a:t>
            </a:r>
            <a:endParaRPr lang="en-US" sz="860" dirty="0"/>
          </a:p>
        </p:txBody>
      </p:sp>
      <p:sp>
        <p:nvSpPr>
          <p:cNvPr id="18" name="Shape 15"/>
          <p:cNvSpPr/>
          <p:nvPr/>
        </p:nvSpPr>
        <p:spPr>
          <a:xfrm>
            <a:off x="5806440" y="3218688"/>
            <a:ext cx="41148" cy="493776"/>
          </a:xfrm>
          <a:prstGeom prst="rect">
            <a:avLst/>
          </a:prstGeom>
          <a:solidFill>
            <a:srgbClr val="E5E7E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934456" y="3200400"/>
            <a:ext cx="2478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72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点图表色条才能进错题本</a:t>
            </a:r>
            <a:endParaRPr lang="en-US" sz="720" dirty="0"/>
          </a:p>
        </p:txBody>
      </p:sp>
      <p:sp>
        <p:nvSpPr>
          <p:cNvPr id="20" name="Text 17"/>
          <p:cNvSpPr/>
          <p:nvPr/>
        </p:nvSpPr>
        <p:spPr>
          <a:xfrm>
            <a:off x="5934456" y="3447288"/>
            <a:ext cx="24780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860" b="1" dirty="0">
                <a:solidFill>
                  <a:srgbClr val="1629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今日复习队列: 每题带缩略图和推荐理由, 逾期/到期/星标分色</a:t>
            </a:r>
            <a:endParaRPr lang="en-US" sz="860" dirty="0"/>
          </a:p>
        </p:txBody>
      </p:sp>
      <p:sp>
        <p:nvSpPr>
          <p:cNvPr id="21" name="Shape 18"/>
          <p:cNvSpPr/>
          <p:nvPr/>
        </p:nvSpPr>
        <p:spPr>
          <a:xfrm>
            <a:off x="5806440" y="3822192"/>
            <a:ext cx="2606040" cy="457200"/>
          </a:xfrm>
          <a:prstGeom prst="roundRect">
            <a:avLst>
              <a:gd name="adj" fmla="val 10000"/>
            </a:avLst>
          </a:prstGeom>
          <a:solidFill>
            <a:srgbClr val="ECFDF5"/>
          </a:solidFill>
          <a:ln w="9525">
            <a:solidFill>
              <a:srgbClr val="A7F3D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5934456" y="3867912"/>
            <a:ext cx="235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780" dirty="0">
                <a:solidFill>
                  <a:srgbClr val="04785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后端数据已够用 -- stats 已返回 due / weak_tags / streak / mastered, 重排不需改契约</a:t>
            </a:r>
            <a:endParaRPr lang="en-US" sz="780" dirty="0"/>
          </a:p>
        </p:txBody>
      </p:sp>
      <p:sp>
        <p:nvSpPr>
          <p:cNvPr id="23" name="Shape 20"/>
          <p:cNvSpPr/>
          <p:nvPr/>
        </p:nvSpPr>
        <p:spPr>
          <a:xfrm>
            <a:off x="8503920" y="4663440"/>
            <a:ext cx="384048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503920" y="4663440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82296" cy="18288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621792" y="27432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2563E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 MOCKUP 02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02920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629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错题本: 让列表本身可扫读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457200" y="93268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筛选收进工具条, 题目用缩略图卡片, 信息分四层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07150" y="1243584"/>
            <a:ext cx="4775019" cy="36576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12700" dir="5400000">
              <a:srgbClr val="1F2937">
                <a:alpha val="6000"/>
              </a:srgbClr>
            </a:outerShdw>
          </a:effectLst>
        </p:spPr>
      </p:sp>
      <p:pic>
        <p:nvPicPr>
          <p:cNvPr id="7" name="Image 0" descr="assets/mock-noteboo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3726" y="1280160"/>
            <a:ext cx="4701867" cy="358444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806440" y="1280160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29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关键改动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806440" y="1517904"/>
            <a:ext cx="41148" cy="493776"/>
          </a:xfrm>
          <a:prstGeom prst="rect">
            <a:avLst/>
          </a:prstGeom>
          <a:solidFill>
            <a:srgbClr val="E5E7E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34456" y="1499616"/>
            <a:ext cx="2478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72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个 toggle + 2 个下拉 + 搜索框常驻, 占首屏约 60%</a:t>
            </a:r>
            <a:endParaRPr lang="en-US" sz="720" dirty="0"/>
          </a:p>
        </p:txBody>
      </p:sp>
      <p:sp>
        <p:nvSpPr>
          <p:cNvPr id="11" name="Text 8"/>
          <p:cNvSpPr/>
          <p:nvPr/>
        </p:nvSpPr>
        <p:spPr>
          <a:xfrm>
            <a:off x="5934456" y="1746504"/>
            <a:ext cx="24780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860" b="1" dirty="0">
                <a:solidFill>
                  <a:srgbClr val="1629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一行工具条: 搜索 + 视图切换 + 筛选抽屉 + 更多菜单</a:t>
            </a:r>
            <a:endParaRPr lang="en-US" sz="860" dirty="0"/>
          </a:p>
        </p:txBody>
      </p:sp>
      <p:sp>
        <p:nvSpPr>
          <p:cNvPr id="12" name="Shape 9"/>
          <p:cNvSpPr/>
          <p:nvPr/>
        </p:nvSpPr>
        <p:spPr>
          <a:xfrm>
            <a:off x="5806440" y="2084832"/>
            <a:ext cx="41148" cy="493776"/>
          </a:xfrm>
          <a:prstGeom prst="rect">
            <a:avLst/>
          </a:prstGeom>
          <a:solidFill>
            <a:srgbClr val="E5E7E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934456" y="2066544"/>
            <a:ext cx="2478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72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当前生效的筛选条件看不出来</a:t>
            </a:r>
            <a:endParaRPr lang="en-US" sz="720" dirty="0"/>
          </a:p>
        </p:txBody>
      </p:sp>
      <p:sp>
        <p:nvSpPr>
          <p:cNvPr id="14" name="Text 11"/>
          <p:cNvSpPr/>
          <p:nvPr/>
        </p:nvSpPr>
        <p:spPr>
          <a:xfrm>
            <a:off x="5934456" y="2313432"/>
            <a:ext cx="24780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860" b="1" dirty="0">
                <a:solidFill>
                  <a:srgbClr val="1629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chip 回显: 语义搜索 x  仅看待复习 x  难度:中等 x  + 添加筛选</a:t>
            </a:r>
            <a:endParaRPr lang="en-US" sz="860" dirty="0"/>
          </a:p>
        </p:txBody>
      </p:sp>
      <p:sp>
        <p:nvSpPr>
          <p:cNvPr id="15" name="Shape 12"/>
          <p:cNvSpPr/>
          <p:nvPr/>
        </p:nvSpPr>
        <p:spPr>
          <a:xfrm>
            <a:off x="5806440" y="2651760"/>
            <a:ext cx="41148" cy="493776"/>
          </a:xfrm>
          <a:prstGeom prst="rect">
            <a:avLst/>
          </a:prstGeom>
          <a:solidFill>
            <a:srgbClr val="E5E7E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934456" y="2633472"/>
            <a:ext cx="2478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72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expander 标题一行塞 7 类信息, 无缩略图</a:t>
            </a:r>
            <a:endParaRPr lang="en-US" sz="720" dirty="0"/>
          </a:p>
        </p:txBody>
      </p:sp>
      <p:sp>
        <p:nvSpPr>
          <p:cNvPr id="17" name="Text 14"/>
          <p:cNvSpPr/>
          <p:nvPr/>
        </p:nvSpPr>
        <p:spPr>
          <a:xfrm>
            <a:off x="5934456" y="2880360"/>
            <a:ext cx="24780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860" b="1" dirty="0">
                <a:solidFill>
                  <a:srgbClr val="1629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三列卡片: 缩略图 / 标签 / 掌握度色环 / 到期状态, 四层分离</a:t>
            </a:r>
            <a:endParaRPr lang="en-US" sz="860" dirty="0"/>
          </a:p>
        </p:txBody>
      </p:sp>
      <p:sp>
        <p:nvSpPr>
          <p:cNvPr id="18" name="Shape 15"/>
          <p:cNvSpPr/>
          <p:nvPr/>
        </p:nvSpPr>
        <p:spPr>
          <a:xfrm>
            <a:off x="5806440" y="3218688"/>
            <a:ext cx="41148" cy="493776"/>
          </a:xfrm>
          <a:prstGeom prst="rect">
            <a:avLst/>
          </a:prstGeom>
          <a:solidFill>
            <a:srgbClr val="E5E7E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934456" y="3200400"/>
            <a:ext cx="2478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72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导出三个大按钮占满一行 (低频操作)</a:t>
            </a:r>
            <a:endParaRPr lang="en-US" sz="720" dirty="0"/>
          </a:p>
        </p:txBody>
      </p:sp>
      <p:sp>
        <p:nvSpPr>
          <p:cNvPr id="20" name="Text 17"/>
          <p:cNvSpPr/>
          <p:nvPr/>
        </p:nvSpPr>
        <p:spPr>
          <a:xfrm>
            <a:off x="5934456" y="3447288"/>
            <a:ext cx="24780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860" b="1" dirty="0">
                <a:solidFill>
                  <a:srgbClr val="1629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收进工具条右侧 ... 菜单; 批量操作改为常驻底部操作条</a:t>
            </a:r>
            <a:endParaRPr lang="en-US" sz="860" dirty="0"/>
          </a:p>
        </p:txBody>
      </p:sp>
      <p:sp>
        <p:nvSpPr>
          <p:cNvPr id="21" name="Shape 18"/>
          <p:cNvSpPr/>
          <p:nvPr/>
        </p:nvSpPr>
        <p:spPr>
          <a:xfrm>
            <a:off x="5806440" y="3785616"/>
            <a:ext cx="41148" cy="493776"/>
          </a:xfrm>
          <a:prstGeom prst="rect">
            <a:avLst/>
          </a:prstGeom>
          <a:solidFill>
            <a:srgbClr val="E5E7E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5934456" y="3767328"/>
            <a:ext cx="2478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72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分页器在列表上方, 视线要来回跳</a:t>
            </a:r>
            <a:endParaRPr lang="en-US" sz="720" dirty="0"/>
          </a:p>
        </p:txBody>
      </p:sp>
      <p:sp>
        <p:nvSpPr>
          <p:cNvPr id="23" name="Text 20"/>
          <p:cNvSpPr/>
          <p:nvPr/>
        </p:nvSpPr>
        <p:spPr>
          <a:xfrm>
            <a:off x="5934456" y="4014216"/>
            <a:ext cx="24780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860" b="1" dirty="0">
                <a:solidFill>
                  <a:srgbClr val="1629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分页移到列表下方, 并显示命中数量与每页条数</a:t>
            </a:r>
            <a:endParaRPr lang="en-US" sz="860" dirty="0"/>
          </a:p>
        </p:txBody>
      </p:sp>
      <p:sp>
        <p:nvSpPr>
          <p:cNvPr id="24" name="Shape 21"/>
          <p:cNvSpPr/>
          <p:nvPr/>
        </p:nvSpPr>
        <p:spPr>
          <a:xfrm>
            <a:off x="5806440" y="4389120"/>
            <a:ext cx="2606040" cy="457200"/>
          </a:xfrm>
          <a:prstGeom prst="roundRect">
            <a:avLst>
              <a:gd name="adj" fmla="val 10000"/>
            </a:avLst>
          </a:prstGeom>
          <a:solidFill>
            <a:srgbClr val="ECFDF5"/>
          </a:solidFill>
          <a:ln w="9525">
            <a:solidFill>
              <a:srgbClr val="A7F3D0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5934456" y="4434840"/>
            <a:ext cx="235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780" dirty="0">
                <a:solidFill>
                  <a:srgbClr val="04785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Streamlit 的 st.image 无法 hover 出操作层, 勾选框需另想办法 -- 这是该页最大的落地约束</a:t>
            </a:r>
            <a:endParaRPr lang="en-US" sz="780" dirty="0"/>
          </a:p>
        </p:txBody>
      </p:sp>
      <p:sp>
        <p:nvSpPr>
          <p:cNvPr id="26" name="Shape 23"/>
          <p:cNvSpPr/>
          <p:nvPr/>
        </p:nvSpPr>
        <p:spPr>
          <a:xfrm>
            <a:off x="8503920" y="4663440"/>
            <a:ext cx="384048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8503920" y="4663440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82296" cy="18288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621792" y="27432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2563E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 MOCKUP 03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02920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629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今日复习: 专注模式 + 优雅降级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457200" y="93268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这是 P0 事故的现场 -- 这一页的改动优先级最高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1164476" y="1243584"/>
            <a:ext cx="3660368" cy="36576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12700" dir="5400000">
              <a:srgbClr val="1F2937">
                <a:alpha val="6000"/>
              </a:srgbClr>
            </a:outerShdw>
          </a:effectLst>
        </p:spPr>
      </p:sp>
      <p:pic>
        <p:nvPicPr>
          <p:cNvPr id="7" name="Image 0" descr="assets/mock-revi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01052" y="1280160"/>
            <a:ext cx="3587216" cy="358444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806440" y="1280160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29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关键改动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806440" y="1517904"/>
            <a:ext cx="41148" cy="493776"/>
          </a:xfrm>
          <a:prstGeom prst="rect">
            <a:avLst/>
          </a:prstGeom>
          <a:solidFill>
            <a:srgbClr val="E5E7E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34456" y="1499616"/>
            <a:ext cx="2478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72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图片读取失败时整个 traceback 渲染到闪卡上</a:t>
            </a:r>
            <a:endParaRPr lang="en-US" sz="720" dirty="0"/>
          </a:p>
        </p:txBody>
      </p:sp>
      <p:sp>
        <p:nvSpPr>
          <p:cNvPr id="11" name="Text 8"/>
          <p:cNvSpPr/>
          <p:nvPr/>
        </p:nvSpPr>
        <p:spPr>
          <a:xfrm>
            <a:off x="5934456" y="1746504"/>
            <a:ext cx="24780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860" b="1" dirty="0">
                <a:solidFill>
                  <a:srgbClr val="1629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error_card 降级: 切到 OCR 文本继续复习, 附折叠的原始异常供排查</a:t>
            </a:r>
            <a:endParaRPr lang="en-US" sz="860" dirty="0"/>
          </a:p>
        </p:txBody>
      </p:sp>
      <p:sp>
        <p:nvSpPr>
          <p:cNvPr id="12" name="Shape 9"/>
          <p:cNvSpPr/>
          <p:nvPr/>
        </p:nvSpPr>
        <p:spPr>
          <a:xfrm>
            <a:off x="5806440" y="2084832"/>
            <a:ext cx="41148" cy="493776"/>
          </a:xfrm>
          <a:prstGeom prst="rect">
            <a:avLst/>
          </a:prstGeom>
          <a:solidFill>
            <a:srgbClr val="E5E7E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934456" y="2066544"/>
            <a:ext cx="2478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72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顶部只有一个孤零零的数字 18</a:t>
            </a:r>
            <a:endParaRPr lang="en-US" sz="720" dirty="0"/>
          </a:p>
        </p:txBody>
      </p:sp>
      <p:sp>
        <p:nvSpPr>
          <p:cNvPr id="14" name="Text 11"/>
          <p:cNvSpPr/>
          <p:nvPr/>
        </p:nvSpPr>
        <p:spPr>
          <a:xfrm>
            <a:off x="5934456" y="2313432"/>
            <a:ext cx="24780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860" b="1" dirty="0">
                <a:solidFill>
                  <a:srgbClr val="1629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进度条 + 本轮已评计数, 3 / 18 的位置感明确</a:t>
            </a:r>
            <a:endParaRPr lang="en-US" sz="860" dirty="0"/>
          </a:p>
        </p:txBody>
      </p:sp>
      <p:sp>
        <p:nvSpPr>
          <p:cNvPr id="15" name="Shape 12"/>
          <p:cNvSpPr/>
          <p:nvPr/>
        </p:nvSpPr>
        <p:spPr>
          <a:xfrm>
            <a:off x="5806440" y="2651760"/>
            <a:ext cx="41148" cy="493776"/>
          </a:xfrm>
          <a:prstGeom prst="rect">
            <a:avLst/>
          </a:prstGeom>
          <a:solidFill>
            <a:srgbClr val="E5E7E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934456" y="2633472"/>
            <a:ext cx="2478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72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评分按钮只有表情和文字, 决策成本高</a:t>
            </a:r>
            <a:endParaRPr lang="en-US" sz="720" dirty="0"/>
          </a:p>
        </p:txBody>
      </p:sp>
      <p:sp>
        <p:nvSpPr>
          <p:cNvPr id="17" name="Text 14"/>
          <p:cNvSpPr/>
          <p:nvPr/>
        </p:nvSpPr>
        <p:spPr>
          <a:xfrm>
            <a:off x="5934456" y="2880360"/>
            <a:ext cx="24780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860" b="1" dirty="0">
                <a:solidFill>
                  <a:srgbClr val="1629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每个按钮直接预告下次复习时间: 明天 / 2 天后 / 6 天后 / 16 天后</a:t>
            </a:r>
            <a:endParaRPr lang="en-US" sz="860" dirty="0"/>
          </a:p>
        </p:txBody>
      </p:sp>
      <p:sp>
        <p:nvSpPr>
          <p:cNvPr id="18" name="Shape 15"/>
          <p:cNvSpPr/>
          <p:nvPr/>
        </p:nvSpPr>
        <p:spPr>
          <a:xfrm>
            <a:off x="5806440" y="3218688"/>
            <a:ext cx="41148" cy="493776"/>
          </a:xfrm>
          <a:prstGeom prst="rect">
            <a:avLst/>
          </a:prstGeom>
          <a:solidFill>
            <a:srgbClr val="E5E7E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934456" y="3200400"/>
            <a:ext cx="2478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72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 reveal 时评分区整块塌陷, 翻页时页面高度剧烈跳动</a:t>
            </a:r>
            <a:endParaRPr lang="en-US" sz="720" dirty="0"/>
          </a:p>
        </p:txBody>
      </p:sp>
      <p:sp>
        <p:nvSpPr>
          <p:cNvPr id="20" name="Text 17"/>
          <p:cNvSpPr/>
          <p:nvPr/>
        </p:nvSpPr>
        <p:spPr>
          <a:xfrm>
            <a:off x="5934456" y="3447288"/>
            <a:ext cx="24780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860" b="1" dirty="0">
                <a:solidFill>
                  <a:srgbClr val="1629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按钮区位置固定, 图与解析区切换高度</a:t>
            </a:r>
            <a:endParaRPr lang="en-US" sz="860" dirty="0"/>
          </a:p>
        </p:txBody>
      </p:sp>
      <p:sp>
        <p:nvSpPr>
          <p:cNvPr id="21" name="Shape 18"/>
          <p:cNvSpPr/>
          <p:nvPr/>
        </p:nvSpPr>
        <p:spPr>
          <a:xfrm>
            <a:off x="5806440" y="3785616"/>
            <a:ext cx="41148" cy="493776"/>
          </a:xfrm>
          <a:prstGeom prst="rect">
            <a:avLst/>
          </a:prstGeom>
          <a:solidFill>
            <a:srgbClr val="E5E7E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5934456" y="3767328"/>
            <a:ext cx="2478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72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进度条首题显示 0%, 与旁边的 1 / N 自相矛盾</a:t>
            </a:r>
            <a:endParaRPr lang="en-US" sz="720" dirty="0"/>
          </a:p>
        </p:txBody>
      </p:sp>
      <p:sp>
        <p:nvSpPr>
          <p:cNvPr id="23" name="Text 20"/>
          <p:cNvSpPr/>
          <p:nvPr/>
        </p:nvSpPr>
        <p:spPr>
          <a:xfrm>
            <a:off x="5934456" y="4014216"/>
            <a:ext cx="24780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860" b="1" dirty="0">
                <a:solidFill>
                  <a:srgbClr val="1629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进度按已完成数计算, 首题即为 1/N</a:t>
            </a:r>
            <a:endParaRPr lang="en-US" sz="860" dirty="0"/>
          </a:p>
        </p:txBody>
      </p:sp>
      <p:sp>
        <p:nvSpPr>
          <p:cNvPr id="24" name="Shape 21"/>
          <p:cNvSpPr/>
          <p:nvPr/>
        </p:nvSpPr>
        <p:spPr>
          <a:xfrm>
            <a:off x="5806440" y="4389120"/>
            <a:ext cx="2606040" cy="457200"/>
          </a:xfrm>
          <a:prstGeom prst="roundRect">
            <a:avLst>
              <a:gd name="adj" fmla="val 10000"/>
            </a:avLst>
          </a:prstGeom>
          <a:solidFill>
            <a:srgbClr val="ECFDF5"/>
          </a:solidFill>
          <a:ln w="9525">
            <a:solidFill>
              <a:srgbClr val="A7F3D0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5934456" y="4434840"/>
            <a:ext cx="235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780" dirty="0">
                <a:solidFill>
                  <a:srgbClr val="04785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SM-2 的 next_schedule 后端已经存在, 评分预览只是把它提到渲染层 -- 不需要新接口</a:t>
            </a:r>
            <a:endParaRPr lang="en-US" sz="780" dirty="0"/>
          </a:p>
        </p:txBody>
      </p:sp>
      <p:sp>
        <p:nvSpPr>
          <p:cNvPr id="26" name="Shape 23"/>
          <p:cNvSpPr/>
          <p:nvPr/>
        </p:nvSpPr>
        <p:spPr>
          <a:xfrm>
            <a:off x="8503920" y="4663440"/>
            <a:ext cx="384048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8503920" y="4663440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82296" cy="18288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621792" y="27432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2563E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 MOCKUP 04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02920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629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录题: 让主入口值得更多视觉权重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457200" y="93268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这是用户使用频次最高的动作, 现在却是一个 40px 的原生控件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834937" y="1243584"/>
            <a:ext cx="4319445" cy="36576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12700" dir="5400000">
              <a:srgbClr val="1F2937">
                <a:alpha val="6000"/>
              </a:srgbClr>
            </a:outerShdw>
          </a:effectLst>
        </p:spPr>
      </p:sp>
      <p:pic>
        <p:nvPicPr>
          <p:cNvPr id="7" name="Image 0" descr="assets/mock-tut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1513" y="1280160"/>
            <a:ext cx="4246293" cy="358444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806440" y="1280160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29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关键改动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806440" y="1517904"/>
            <a:ext cx="41148" cy="493776"/>
          </a:xfrm>
          <a:prstGeom prst="rect">
            <a:avLst/>
          </a:prstGeom>
          <a:solidFill>
            <a:srgbClr val="E5E7E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34456" y="1499616"/>
            <a:ext cx="2478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72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上传控件是 40px 高的原生 file_uploader</a:t>
            </a:r>
            <a:endParaRPr lang="en-US" sz="720" dirty="0"/>
          </a:p>
        </p:txBody>
      </p:sp>
      <p:sp>
        <p:nvSpPr>
          <p:cNvPr id="11" name="Text 8"/>
          <p:cNvSpPr/>
          <p:nvPr/>
        </p:nvSpPr>
        <p:spPr>
          <a:xfrm>
            <a:off x="5934456" y="1746504"/>
            <a:ext cx="24780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860" b="1" dirty="0">
                <a:solidFill>
                  <a:srgbClr val="1629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大面积拖拽区, 明确写清格式与大小限制</a:t>
            </a:r>
            <a:endParaRPr lang="en-US" sz="860" dirty="0"/>
          </a:p>
        </p:txBody>
      </p:sp>
      <p:sp>
        <p:nvSpPr>
          <p:cNvPr id="12" name="Shape 9"/>
          <p:cNvSpPr/>
          <p:nvPr/>
        </p:nvSpPr>
        <p:spPr>
          <a:xfrm>
            <a:off x="5806440" y="2084832"/>
            <a:ext cx="41148" cy="493776"/>
          </a:xfrm>
          <a:prstGeom prst="rect">
            <a:avLst/>
          </a:prstGeom>
          <a:solidFill>
            <a:srgbClr val="E5E7E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934456" y="2066544"/>
            <a:ext cx="2478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72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解析结果是一整块 Markdown</a:t>
            </a:r>
            <a:endParaRPr lang="en-US" sz="720" dirty="0"/>
          </a:p>
        </p:txBody>
      </p:sp>
      <p:sp>
        <p:nvSpPr>
          <p:cNvPr id="14" name="Text 11"/>
          <p:cNvSpPr/>
          <p:nvPr/>
        </p:nvSpPr>
        <p:spPr>
          <a:xfrm>
            <a:off x="5934456" y="2313432"/>
            <a:ext cx="24780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860" b="1" dirty="0">
                <a:solidFill>
                  <a:srgbClr val="1629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五段结构化结果卡: 考点 / 讲解 / 答案 / 易错 / 举一反三</a:t>
            </a:r>
            <a:endParaRPr lang="en-US" sz="860" dirty="0"/>
          </a:p>
        </p:txBody>
      </p:sp>
      <p:sp>
        <p:nvSpPr>
          <p:cNvPr id="15" name="Shape 12"/>
          <p:cNvSpPr/>
          <p:nvPr/>
        </p:nvSpPr>
        <p:spPr>
          <a:xfrm>
            <a:off x="5806440" y="2651760"/>
            <a:ext cx="41148" cy="493776"/>
          </a:xfrm>
          <a:prstGeom prst="rect">
            <a:avLst/>
          </a:prstGeom>
          <a:solidFill>
            <a:srgbClr val="E5E7E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934456" y="2633472"/>
            <a:ext cx="2478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72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解析中只在局部重建, 刷新或切页结果全丢</a:t>
            </a:r>
            <a:endParaRPr lang="en-US" sz="720" dirty="0"/>
          </a:p>
        </p:txBody>
      </p:sp>
      <p:sp>
        <p:nvSpPr>
          <p:cNvPr id="17" name="Text 14"/>
          <p:cNvSpPr/>
          <p:nvPr/>
        </p:nvSpPr>
        <p:spPr>
          <a:xfrm>
            <a:off x="5934456" y="2880360"/>
            <a:ext cx="24780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860" b="1" dirty="0">
                <a:solidFill>
                  <a:srgbClr val="1629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逐题状态缩略图: 已解析 / 解析中 62%, 进度可见可恢复</a:t>
            </a:r>
            <a:endParaRPr lang="en-US" sz="860" dirty="0"/>
          </a:p>
        </p:txBody>
      </p:sp>
      <p:sp>
        <p:nvSpPr>
          <p:cNvPr id="18" name="Shape 15"/>
          <p:cNvSpPr/>
          <p:nvPr/>
        </p:nvSpPr>
        <p:spPr>
          <a:xfrm>
            <a:off x="5806440" y="3218688"/>
            <a:ext cx="41148" cy="493776"/>
          </a:xfrm>
          <a:prstGeom prst="rect">
            <a:avLst/>
          </a:prstGeom>
          <a:solidFill>
            <a:srgbClr val="E5E7E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934456" y="3200400"/>
            <a:ext cx="2478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72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tutor.py:205 的 st.image 没有 exists 检查</a:t>
            </a:r>
            <a:endParaRPr lang="en-US" sz="720" dirty="0"/>
          </a:p>
        </p:txBody>
      </p:sp>
      <p:sp>
        <p:nvSpPr>
          <p:cNvPr id="20" name="Text 17"/>
          <p:cNvSpPr/>
          <p:nvPr/>
        </p:nvSpPr>
        <p:spPr>
          <a:xfrm>
            <a:off x="5934456" y="3447288"/>
            <a:ext cx="24780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860" b="1" dirty="0">
                <a:solidFill>
                  <a:srgbClr val="1629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解析结果原图同样走 error_card 降级</a:t>
            </a:r>
            <a:endParaRPr lang="en-US" sz="860" dirty="0"/>
          </a:p>
        </p:txBody>
      </p:sp>
      <p:sp>
        <p:nvSpPr>
          <p:cNvPr id="21" name="Shape 18"/>
          <p:cNvSpPr/>
          <p:nvPr/>
        </p:nvSpPr>
        <p:spPr>
          <a:xfrm>
            <a:off x="5806440" y="3785616"/>
            <a:ext cx="41148" cy="493776"/>
          </a:xfrm>
          <a:prstGeom prst="rect">
            <a:avLst/>
          </a:prstGeom>
          <a:solidFill>
            <a:srgbClr val="E5E7E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5934456" y="3767328"/>
            <a:ext cx="2478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72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 tab 下大片留白</a:t>
            </a:r>
            <a:endParaRPr lang="en-US" sz="720" dirty="0"/>
          </a:p>
        </p:txBody>
      </p:sp>
      <p:sp>
        <p:nvSpPr>
          <p:cNvPr id="23" name="Text 20"/>
          <p:cNvSpPr/>
          <p:nvPr/>
        </p:nvSpPr>
        <p:spPr>
          <a:xfrm>
            <a:off x="5934456" y="4014216"/>
            <a:ext cx="24780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860" b="1" dirty="0">
                <a:solidFill>
                  <a:srgbClr val="1629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左右两栏: 上传与选项在左, 状态与结果在右, 屏幕利用率翻倍</a:t>
            </a:r>
            <a:endParaRPr lang="en-US" sz="860" dirty="0"/>
          </a:p>
        </p:txBody>
      </p:sp>
      <p:sp>
        <p:nvSpPr>
          <p:cNvPr id="24" name="Shape 21"/>
          <p:cNvSpPr/>
          <p:nvPr/>
        </p:nvSpPr>
        <p:spPr>
          <a:xfrm>
            <a:off x="5806440" y="4389120"/>
            <a:ext cx="2606040" cy="457200"/>
          </a:xfrm>
          <a:prstGeom prst="roundRect">
            <a:avLst>
              <a:gd name="adj" fmla="val 10000"/>
            </a:avLst>
          </a:prstGeom>
          <a:solidFill>
            <a:srgbClr val="ECFDF5"/>
          </a:solidFill>
          <a:ln w="9525">
            <a:solidFill>
              <a:srgbClr val="A7F3D0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5934456" y="4434840"/>
            <a:ext cx="235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780" dirty="0">
                <a:solidFill>
                  <a:srgbClr val="04785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解析结果本就是固定的五段结构, 拆成卡片不需要改后端 schema</a:t>
            </a:r>
            <a:endParaRPr lang="en-US" sz="780" dirty="0"/>
          </a:p>
        </p:txBody>
      </p:sp>
      <p:sp>
        <p:nvSpPr>
          <p:cNvPr id="26" name="Shape 23"/>
          <p:cNvSpPr/>
          <p:nvPr/>
        </p:nvSpPr>
        <p:spPr>
          <a:xfrm>
            <a:off x="8503920" y="4663440"/>
            <a:ext cx="384048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8503920" y="4663440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82296" cy="18288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621792" y="27432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2563E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 NAVIGATION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02920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629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侧边栏: 从 9 项平铺到三组分层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457200" y="93268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每一组回答一个问题: 今天做什么 / 我在学什么 / 还能看什么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379476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444752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DC26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现状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828800" y="1444752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 项平铺, 0 个分组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40080" y="1755648"/>
            <a:ext cx="3429000" cy="237744"/>
          </a:xfrm>
          <a:prstGeom prst="rect">
            <a:avLst/>
          </a:prstGeom>
          <a:solidFill>
            <a:srgbClr val="EFF6FF"/>
          </a:solidFill>
          <a:ln w="7620">
            <a:solidFill>
              <a:srgbClr val="BFDBF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68096" y="1847088"/>
            <a:ext cx="64008" cy="64008"/>
          </a:xfrm>
          <a:prstGeom prst="rect">
            <a:avLst/>
          </a:prstGeom>
          <a:solidFill>
            <a:srgbClr val="2563E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32688" y="1755648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学情看板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640080" y="2029968"/>
            <a:ext cx="3429000" cy="237744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68096" y="2121408"/>
            <a:ext cx="64008" cy="64008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32688" y="2029968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录题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640080" y="2304288"/>
            <a:ext cx="3429000" cy="237744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68096" y="2395728"/>
            <a:ext cx="64008" cy="64008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32688" y="2304288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错题本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640080" y="2578608"/>
            <a:ext cx="3429000" cy="237744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68096" y="2670048"/>
            <a:ext cx="64008" cy="64008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32688" y="2578608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今日复习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40080" y="2852928"/>
            <a:ext cx="3429000" cy="237744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68096" y="2944368"/>
            <a:ext cx="64008" cy="64008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32688" y="2852928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学生总览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640080" y="3127248"/>
            <a:ext cx="3429000" cy="237744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68096" y="3218688"/>
            <a:ext cx="64008" cy="64008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32688" y="3127248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知识图谱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640080" y="3401568"/>
            <a:ext cx="3429000" cy="237744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68096" y="3493008"/>
            <a:ext cx="64008" cy="64008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32688" y="3401568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能力画像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640080" y="3675888"/>
            <a:ext cx="3429000" cy="237744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68096" y="3767328"/>
            <a:ext cx="64008" cy="64008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32688" y="3675888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助手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640080" y="3950208"/>
            <a:ext cx="3429000" cy="237744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68096" y="4041648"/>
            <a:ext cx="64008" cy="64008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32688" y="3950208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设置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3383280" y="395020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低频</a:t>
            </a:r>
            <a:endParaRPr lang="en-US" sz="750" dirty="0"/>
          </a:p>
        </p:txBody>
      </p:sp>
      <p:sp>
        <p:nvSpPr>
          <p:cNvPr id="37" name="Text 35"/>
          <p:cNvSpPr/>
          <p:nvPr/>
        </p:nvSpPr>
        <p:spPr>
          <a:xfrm>
            <a:off x="640080" y="4297680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DC26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核心动作 (AI 录题) 与低频操作 (设置) 权重相同, 且没有"今天要做多少"的入口.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4709160" y="1325880"/>
            <a:ext cx="374904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A7F3D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892040" y="1444752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596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989320" y="1444752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组分层 + 待办红点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4892040" y="1755648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20" kern="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今天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4892040" y="1938528"/>
            <a:ext cx="3383280" cy="246888"/>
          </a:xfrm>
          <a:prstGeom prst="rect">
            <a:avLst/>
          </a:prstGeom>
          <a:solidFill>
            <a:srgbClr val="EFF6FF"/>
          </a:solidFill>
          <a:ln w="7620">
            <a:solidFill>
              <a:srgbClr val="BFDBFE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020056" y="2029968"/>
            <a:ext cx="64008" cy="64008"/>
          </a:xfrm>
          <a:prstGeom prst="rect">
            <a:avLst/>
          </a:prstGeom>
          <a:solidFill>
            <a:srgbClr val="2563E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184648" y="1938528"/>
            <a:ext cx="21945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学情看板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4892040" y="2221992"/>
            <a:ext cx="3383280" cy="246888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020056" y="2313432"/>
            <a:ext cx="64008" cy="64008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184648" y="2221992"/>
            <a:ext cx="21945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今日复习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7772400" y="2276856"/>
            <a:ext cx="384048" cy="155448"/>
          </a:xfrm>
          <a:prstGeom prst="roundRect">
            <a:avLst>
              <a:gd name="adj" fmla="val 17647"/>
            </a:avLst>
          </a:prstGeom>
          <a:solidFill>
            <a:srgbClr val="2563E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772400" y="2276856"/>
            <a:ext cx="384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700" dirty="0"/>
          </a:p>
        </p:txBody>
      </p:sp>
      <p:sp>
        <p:nvSpPr>
          <p:cNvPr id="50" name="Text 48"/>
          <p:cNvSpPr/>
          <p:nvPr/>
        </p:nvSpPr>
        <p:spPr>
          <a:xfrm>
            <a:off x="4892040" y="2551176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20" kern="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</a:t>
            </a:r>
            <a:endParaRPr lang="en-US" sz="750" dirty="0"/>
          </a:p>
        </p:txBody>
      </p:sp>
      <p:sp>
        <p:nvSpPr>
          <p:cNvPr id="51" name="Shape 49"/>
          <p:cNvSpPr/>
          <p:nvPr/>
        </p:nvSpPr>
        <p:spPr>
          <a:xfrm>
            <a:off x="4892040" y="2734056"/>
            <a:ext cx="3383280" cy="246888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5020056" y="2825496"/>
            <a:ext cx="64008" cy="64008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184648" y="2734056"/>
            <a:ext cx="21945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录题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4892040" y="3017520"/>
            <a:ext cx="3383280" cy="246888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020056" y="3108960"/>
            <a:ext cx="64008" cy="64008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184648" y="3017520"/>
            <a:ext cx="21945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错题本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4892040" y="3300984"/>
            <a:ext cx="3383280" cy="246888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020056" y="3392424"/>
            <a:ext cx="64008" cy="64008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184648" y="3300984"/>
            <a:ext cx="21945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能力画像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4892040" y="3630168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20" kern="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探索</a:t>
            </a:r>
            <a:endParaRPr lang="en-US" sz="750" dirty="0"/>
          </a:p>
        </p:txBody>
      </p:sp>
      <p:sp>
        <p:nvSpPr>
          <p:cNvPr id="61" name="Shape 59"/>
          <p:cNvSpPr/>
          <p:nvPr/>
        </p:nvSpPr>
        <p:spPr>
          <a:xfrm>
            <a:off x="4892040" y="3813048"/>
            <a:ext cx="3383280" cy="246888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5020056" y="3904488"/>
            <a:ext cx="64008" cy="64008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5184648" y="3813048"/>
            <a:ext cx="21945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知识图谱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4892040" y="4096512"/>
            <a:ext cx="3383280" cy="246888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5020056" y="4187952"/>
            <a:ext cx="64008" cy="64008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184648" y="4096512"/>
            <a:ext cx="21945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助手</a:t>
            </a:r>
            <a:endParaRPr lang="en-US" sz="850" dirty="0"/>
          </a:p>
        </p:txBody>
      </p:sp>
      <p:sp>
        <p:nvSpPr>
          <p:cNvPr id="67" name="Shape 65"/>
          <p:cNvSpPr/>
          <p:nvPr/>
        </p:nvSpPr>
        <p:spPr>
          <a:xfrm>
            <a:off x="4709160" y="4681728"/>
            <a:ext cx="3383280" cy="329184"/>
          </a:xfrm>
          <a:prstGeom prst="roundRect">
            <a:avLst>
              <a:gd name="adj" fmla="val 11111"/>
            </a:avLst>
          </a:prstGeom>
          <a:solidFill>
            <a:srgbClr val="ECFDF5"/>
          </a:solidFill>
          <a:ln w="7620">
            <a:solidFill>
              <a:srgbClr val="A7F3D0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828032" y="4681728"/>
            <a:ext cx="3154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04785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设置与用户头像固定在底部; 教师专属的学生总览插在学习组之后.</a:t>
            </a:r>
            <a:endParaRPr lang="en-US" sz="760" dirty="0"/>
          </a:p>
        </p:txBody>
      </p:sp>
      <p:sp>
        <p:nvSpPr>
          <p:cNvPr id="69" name="Shape 67"/>
          <p:cNvSpPr/>
          <p:nvPr/>
        </p:nvSpPr>
        <p:spPr>
          <a:xfrm>
            <a:off x="8503920" y="4663440"/>
            <a:ext cx="384048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8503920" y="4663440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629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926080" cy="5143500"/>
          </a:xfrm>
          <a:prstGeom prst="rect">
            <a:avLst/>
          </a:prstGeom>
          <a:solidFill>
            <a:srgbClr val="0F1F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73736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2C5A9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9600" dirty="0"/>
          </a:p>
        </p:txBody>
      </p:sp>
      <p:sp>
        <p:nvSpPr>
          <p:cNvPr id="4" name="Text 2"/>
          <p:cNvSpPr/>
          <p:nvPr/>
        </p:nvSpPr>
        <p:spPr>
          <a:xfrm>
            <a:off x="3383280" y="1965960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落地路径与风险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3383280" y="2606040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A9BCD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六批改动, 每批都能独立发布, 互不阻塞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8503920" y="4663440"/>
            <a:ext cx="384048" cy="256032"/>
          </a:xfrm>
          <a:prstGeom prst="rect">
            <a:avLst/>
          </a:prstGeom>
          <a:solidFill>
            <a:srgbClr val="0F1F3A"/>
          </a:solidFill>
          <a:ln w="9525">
            <a:solidFill>
              <a:srgbClr val="2C5A9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03920" y="4663440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FB4D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82296" cy="18288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621792" y="27432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2563E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  ROADMAP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02920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629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六批落地路径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457200" y="93268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每批都能独立发布, 第一批当天就能合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353312"/>
            <a:ext cx="2514600" cy="1627632"/>
          </a:xfrm>
          <a:prstGeom prst="roundRect">
            <a:avLst>
              <a:gd name="adj" fmla="val 3371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12700" dir="5400000">
              <a:srgbClr val="1F2937">
                <a:alpha val="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353312"/>
            <a:ext cx="2514600" cy="45720"/>
          </a:xfrm>
          <a:prstGeom prst="rect">
            <a:avLst/>
          </a:prstGeom>
          <a:solidFill>
            <a:srgbClr val="2563E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1792" y="1517904"/>
            <a:ext cx="274320" cy="274320"/>
          </a:xfrm>
          <a:prstGeom prst="roundRect">
            <a:avLst>
              <a:gd name="adj" fmla="val 13333"/>
            </a:avLst>
          </a:prstGeom>
          <a:solidFill>
            <a:srgbClr val="1629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21792" y="151790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969264" y="1517904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9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止血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432304" y="1536192"/>
            <a:ext cx="402336" cy="237744"/>
          </a:xfrm>
          <a:prstGeom prst="roundRect">
            <a:avLst>
              <a:gd name="adj" fmla="val 15385"/>
            </a:avLst>
          </a:prstGeom>
          <a:solidFill>
            <a:srgbClr val="ECFDF5"/>
          </a:solidFill>
          <a:ln w="9525">
            <a:solidFill>
              <a:srgbClr val="A7F3D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432304" y="1536192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596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621792" y="1865376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review.py / tutor.py / 全站 service 调用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21792" y="2084832"/>
            <a:ext cx="21945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86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加 safe_call 包装与 error_card 降级组件; 图片路径改存相对路径. 纯防御性代码, 不动任何视觉.</a:t>
            </a:r>
            <a:endParaRPr lang="en-US" sz="860" dirty="0"/>
          </a:p>
        </p:txBody>
      </p:sp>
      <p:sp>
        <p:nvSpPr>
          <p:cNvPr id="15" name="Shape 13"/>
          <p:cNvSpPr/>
          <p:nvPr/>
        </p:nvSpPr>
        <p:spPr>
          <a:xfrm>
            <a:off x="3154680" y="1353312"/>
            <a:ext cx="2514600" cy="1627632"/>
          </a:xfrm>
          <a:prstGeom prst="roundRect">
            <a:avLst>
              <a:gd name="adj" fmla="val 3371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12700" dir="5400000">
              <a:srgbClr val="1F2937">
                <a:alpha val="6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154680" y="1353312"/>
            <a:ext cx="2514600" cy="45720"/>
          </a:xfrm>
          <a:prstGeom prst="rect">
            <a:avLst/>
          </a:prstGeom>
          <a:solidFill>
            <a:srgbClr val="2563E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319272" y="1517904"/>
            <a:ext cx="274320" cy="274320"/>
          </a:xfrm>
          <a:prstGeom prst="roundRect">
            <a:avLst>
              <a:gd name="adj" fmla="val 13333"/>
            </a:avLst>
          </a:prstGeom>
          <a:solidFill>
            <a:srgbClr val="1629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319272" y="151790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666744" y="1517904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9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地基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129784" y="1536192"/>
            <a:ext cx="402336" cy="237744"/>
          </a:xfrm>
          <a:prstGeom prst="roundRect">
            <a:avLst>
              <a:gd name="adj" fmla="val 15385"/>
            </a:avLst>
          </a:prstGeom>
          <a:solidFill>
            <a:srgbClr val="FFFBEB"/>
          </a:solidFill>
          <a:ln w="9525">
            <a:solidFill>
              <a:srgbClr val="FDE68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129784" y="1536192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3319272" y="1865376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style.css / theme.py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3319272" y="2084832"/>
            <a:ext cx="21945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86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CSS 变量化 + 三档掌握度语义色 + 深色模式改变量对. 不碰页面逻辑, 收益立竿见影.</a:t>
            </a:r>
            <a:endParaRPr lang="en-US" sz="860" dirty="0"/>
          </a:p>
        </p:txBody>
      </p:sp>
      <p:sp>
        <p:nvSpPr>
          <p:cNvPr id="24" name="Shape 22"/>
          <p:cNvSpPr/>
          <p:nvPr/>
        </p:nvSpPr>
        <p:spPr>
          <a:xfrm>
            <a:off x="5852160" y="1353312"/>
            <a:ext cx="2514600" cy="1627632"/>
          </a:xfrm>
          <a:prstGeom prst="roundRect">
            <a:avLst>
              <a:gd name="adj" fmla="val 3371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12700" dir="5400000">
              <a:srgbClr val="1F2937">
                <a:alpha val="6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5852160" y="1353312"/>
            <a:ext cx="2514600" cy="45720"/>
          </a:xfrm>
          <a:prstGeom prst="rect">
            <a:avLst/>
          </a:prstGeom>
          <a:solidFill>
            <a:srgbClr val="2563E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016752" y="1517904"/>
            <a:ext cx="274320" cy="274320"/>
          </a:xfrm>
          <a:prstGeom prst="roundRect">
            <a:avLst>
              <a:gd name="adj" fmla="val 13333"/>
            </a:avLst>
          </a:prstGeom>
          <a:solidFill>
            <a:srgbClr val="1629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016752" y="151790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364224" y="1517904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9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原语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827264" y="1536192"/>
            <a:ext cx="402336" cy="237744"/>
          </a:xfrm>
          <a:prstGeom prst="roundRect">
            <a:avLst>
              <a:gd name="adj" fmla="val 15385"/>
            </a:avLst>
          </a:prstGeom>
          <a:solidFill>
            <a:srgbClr val="FFFBEB"/>
          </a:solidFill>
          <a:ln w="9525">
            <a:solidFill>
              <a:srgbClr val="FDE68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827264" y="1536192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016752" y="1865376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common.py / components.py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6016752" y="2084832"/>
            <a:ext cx="21945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86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统一 badge / empty_state / stat_card, 抽出单一 mastery_color(). 做完这步再逐页改才不漏.</a:t>
            </a:r>
            <a:endParaRPr lang="en-US" sz="860" dirty="0"/>
          </a:p>
        </p:txBody>
      </p:sp>
      <p:sp>
        <p:nvSpPr>
          <p:cNvPr id="33" name="Shape 31"/>
          <p:cNvSpPr/>
          <p:nvPr/>
        </p:nvSpPr>
        <p:spPr>
          <a:xfrm>
            <a:off x="457200" y="3127248"/>
            <a:ext cx="2514600" cy="1627632"/>
          </a:xfrm>
          <a:prstGeom prst="roundRect">
            <a:avLst>
              <a:gd name="adj" fmla="val 3371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12700" dir="5400000">
              <a:srgbClr val="1F2937">
                <a:alpha val="6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57200" y="3127248"/>
            <a:ext cx="2514600" cy="45720"/>
          </a:xfrm>
          <a:prstGeom prst="rect">
            <a:avLst/>
          </a:prstGeom>
          <a:solidFill>
            <a:srgbClr val="2563E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21792" y="3291840"/>
            <a:ext cx="274320" cy="274320"/>
          </a:xfrm>
          <a:prstGeom prst="roundRect">
            <a:avLst>
              <a:gd name="adj" fmla="val 13333"/>
            </a:avLst>
          </a:prstGeom>
          <a:solidFill>
            <a:srgbClr val="1629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21792" y="3291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969264" y="32918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9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导航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432304" y="3310128"/>
            <a:ext cx="402336" cy="237744"/>
          </a:xfrm>
          <a:prstGeom prst="roundRect">
            <a:avLst>
              <a:gd name="adj" fmla="val 15385"/>
            </a:avLst>
          </a:prstGeom>
          <a:solidFill>
            <a:srgbClr val="FFFBEB"/>
          </a:solidFill>
          <a:ln w="9525">
            <a:solidFill>
              <a:srgbClr val="FDE68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432304" y="3310128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621792" y="3639312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app.py / nav.py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621792" y="3858768"/>
            <a:ext cx="21945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86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侧边栏按今天/学习/探索分组, 今日复习带待办数字. 需新增一个 due 计数查询.</a:t>
            </a:r>
            <a:endParaRPr lang="en-US" sz="860" dirty="0"/>
          </a:p>
        </p:txBody>
      </p:sp>
      <p:sp>
        <p:nvSpPr>
          <p:cNvPr id="42" name="Shape 40"/>
          <p:cNvSpPr/>
          <p:nvPr/>
        </p:nvSpPr>
        <p:spPr>
          <a:xfrm>
            <a:off x="3154680" y="3127248"/>
            <a:ext cx="2514600" cy="1627632"/>
          </a:xfrm>
          <a:prstGeom prst="roundRect">
            <a:avLst>
              <a:gd name="adj" fmla="val 3371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12700" dir="5400000">
              <a:srgbClr val="1F2937">
                <a:alpha val="6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3154680" y="3127248"/>
            <a:ext cx="2514600" cy="45720"/>
          </a:xfrm>
          <a:prstGeom prst="rect">
            <a:avLst/>
          </a:prstGeom>
          <a:solidFill>
            <a:srgbClr val="2563E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319272" y="3291840"/>
            <a:ext cx="274320" cy="274320"/>
          </a:xfrm>
          <a:prstGeom prst="roundRect">
            <a:avLst>
              <a:gd name="adj" fmla="val 13333"/>
            </a:avLst>
          </a:prstGeom>
          <a:solidFill>
            <a:srgbClr val="1629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319272" y="3291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3666744" y="32918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9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页面</a:t>
            </a:r>
            <a:endParaRPr lang="en-US" sz="1300" dirty="0"/>
          </a:p>
        </p:txBody>
      </p:sp>
      <p:sp>
        <p:nvSpPr>
          <p:cNvPr id="47" name="Shape 45"/>
          <p:cNvSpPr/>
          <p:nvPr/>
        </p:nvSpPr>
        <p:spPr>
          <a:xfrm>
            <a:off x="5129784" y="3310128"/>
            <a:ext cx="402336" cy="237744"/>
          </a:xfrm>
          <a:prstGeom prst="roundRect">
            <a:avLst>
              <a:gd name="adj" fmla="val 15385"/>
            </a:avLst>
          </a:prstGeom>
          <a:solidFill>
            <a:srgbClr val="FFFBEB"/>
          </a:solidFill>
          <a:ln w="9525">
            <a:solidFill>
              <a:srgbClr val="FDE68A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129784" y="3310128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3319272" y="3639312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dashboard / review / tutor</a:t>
            </a:r>
            <a:endParaRPr lang="en-US" sz="700" dirty="0"/>
          </a:p>
        </p:txBody>
      </p:sp>
      <p:sp>
        <p:nvSpPr>
          <p:cNvPr id="50" name="Text 48"/>
          <p:cNvSpPr/>
          <p:nvPr/>
        </p:nvSpPr>
        <p:spPr>
          <a:xfrm>
            <a:off x="3319272" y="3858768"/>
            <a:ext cx="21945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86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看板行动卡与 metric 条; 复习页错误边界与评分预览; 录题页结构化结果卡.</a:t>
            </a:r>
            <a:endParaRPr lang="en-US" sz="860" dirty="0"/>
          </a:p>
        </p:txBody>
      </p:sp>
      <p:sp>
        <p:nvSpPr>
          <p:cNvPr id="51" name="Shape 49"/>
          <p:cNvSpPr/>
          <p:nvPr/>
        </p:nvSpPr>
        <p:spPr>
          <a:xfrm>
            <a:off x="5852160" y="3127248"/>
            <a:ext cx="2514600" cy="1627632"/>
          </a:xfrm>
          <a:prstGeom prst="roundRect">
            <a:avLst>
              <a:gd name="adj" fmla="val 3371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12700" dir="5400000">
              <a:srgbClr val="1F2937">
                <a:alpha val="6000"/>
              </a:srgbClr>
            </a:outerShdw>
          </a:effectLst>
        </p:spPr>
      </p:sp>
      <p:sp>
        <p:nvSpPr>
          <p:cNvPr id="52" name="Shape 50"/>
          <p:cNvSpPr/>
          <p:nvPr/>
        </p:nvSpPr>
        <p:spPr>
          <a:xfrm>
            <a:off x="5852160" y="3127248"/>
            <a:ext cx="2514600" cy="45720"/>
          </a:xfrm>
          <a:prstGeom prst="rect">
            <a:avLst/>
          </a:prstGeom>
          <a:solidFill>
            <a:srgbClr val="2563E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016752" y="3291840"/>
            <a:ext cx="274320" cy="274320"/>
          </a:xfrm>
          <a:prstGeom prst="roundRect">
            <a:avLst>
              <a:gd name="adj" fmla="val 13333"/>
            </a:avLst>
          </a:prstGeom>
          <a:solidFill>
            <a:srgbClr val="1629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016752" y="3291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6364224" y="32918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9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难点</a:t>
            </a:r>
            <a:endParaRPr lang="en-US" sz="1300" dirty="0"/>
          </a:p>
        </p:txBody>
      </p:sp>
      <p:sp>
        <p:nvSpPr>
          <p:cNvPr id="56" name="Shape 54"/>
          <p:cNvSpPr/>
          <p:nvPr/>
        </p:nvSpPr>
        <p:spPr>
          <a:xfrm>
            <a:off x="7827264" y="3310128"/>
            <a:ext cx="402336" cy="237744"/>
          </a:xfrm>
          <a:prstGeom prst="roundRect">
            <a:avLst>
              <a:gd name="adj" fmla="val 15385"/>
            </a:avLst>
          </a:prstGeom>
          <a:solidFill>
            <a:srgbClr val="FEF2F2"/>
          </a:solidFill>
          <a:ln w="9525">
            <a:solidFill>
              <a:srgbClr val="FECACA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827264" y="3310128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C26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</a:t>
            </a:r>
            <a:endParaRPr lang="en-US" sz="950" dirty="0"/>
          </a:p>
        </p:txBody>
      </p:sp>
      <p:sp>
        <p:nvSpPr>
          <p:cNvPr id="58" name="Text 56"/>
          <p:cNvSpPr/>
          <p:nvPr/>
        </p:nvSpPr>
        <p:spPr>
          <a:xfrm>
            <a:off x="6016752" y="3639312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notebook.py</a:t>
            </a:r>
            <a:endParaRPr lang="en-US" sz="700" dirty="0"/>
          </a:p>
        </p:txBody>
      </p:sp>
      <p:sp>
        <p:nvSpPr>
          <p:cNvPr id="59" name="Text 57"/>
          <p:cNvSpPr/>
          <p:nvPr/>
        </p:nvSpPr>
        <p:spPr>
          <a:xfrm>
            <a:off x="6016752" y="3858768"/>
            <a:ext cx="21945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86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卡片网格 + 工具条 + 常驻批量操作条. 需要新的卡片渲染函数, 改动最重但收益最大.</a:t>
            </a:r>
            <a:endParaRPr lang="en-US" sz="860" dirty="0"/>
          </a:p>
        </p:txBody>
      </p:sp>
      <p:sp>
        <p:nvSpPr>
          <p:cNvPr id="60" name="Shape 58"/>
          <p:cNvSpPr/>
          <p:nvPr/>
        </p:nvSpPr>
        <p:spPr>
          <a:xfrm>
            <a:off x="8503920" y="4663440"/>
            <a:ext cx="384048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8503920" y="4663440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82296" cy="18288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621792" y="27432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2563E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  RISKS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02920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629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风险与边界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457200" y="93268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Streamlit 的能力边界, 以及本方案明确不改的东西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298448"/>
            <a:ext cx="5623560" cy="274320"/>
          </a:xfrm>
          <a:prstGeom prst="rect">
            <a:avLst/>
          </a:prstGeom>
          <a:solidFill>
            <a:srgbClr val="1629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129844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风险点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468880" y="129844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影响与对策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609344"/>
            <a:ext cx="5623560" cy="475488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1609344"/>
            <a:ext cx="45720" cy="475488"/>
          </a:xfrm>
          <a:prstGeom prst="rect">
            <a:avLst/>
          </a:prstGeom>
          <a:solidFill>
            <a:srgbClr val="D9770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1792" y="1609344"/>
            <a:ext cx="1783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85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st.image 没有 hover 层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2468880" y="1609344"/>
            <a:ext cx="3520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78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卡片上的操作按钮无法像 Web 那样悬浮出现, 需要换交互方式或退回 st.checkbox</a:t>
            </a:r>
            <a:endParaRPr lang="en-US" sz="780" dirty="0"/>
          </a:p>
        </p:txBody>
      </p:sp>
      <p:sp>
        <p:nvSpPr>
          <p:cNvPr id="13" name="Shape 11"/>
          <p:cNvSpPr/>
          <p:nvPr/>
        </p:nvSpPr>
        <p:spPr>
          <a:xfrm>
            <a:off x="457200" y="2121408"/>
            <a:ext cx="5623560" cy="475488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7200" y="2121408"/>
            <a:ext cx="45720" cy="475488"/>
          </a:xfrm>
          <a:prstGeom prst="rect">
            <a:avLst/>
          </a:prstGeom>
          <a:solidFill>
            <a:srgbClr val="D9770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1792" y="2121408"/>
            <a:ext cx="1783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85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position: sticky 不可靠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2468880" y="2121408"/>
            <a:ext cx="3520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78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底部常驻批量操作条在 Streamlit 容器里可能失效, 或需 components.html 模拟</a:t>
            </a:r>
            <a:endParaRPr lang="en-US" sz="780" dirty="0"/>
          </a:p>
        </p:txBody>
      </p:sp>
      <p:sp>
        <p:nvSpPr>
          <p:cNvPr id="17" name="Shape 15"/>
          <p:cNvSpPr/>
          <p:nvPr/>
        </p:nvSpPr>
        <p:spPr>
          <a:xfrm>
            <a:off x="457200" y="2633472"/>
            <a:ext cx="5623560" cy="475488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2633472"/>
            <a:ext cx="45720" cy="475488"/>
          </a:xfrm>
          <a:prstGeom prst="rect">
            <a:avLst/>
          </a:prstGeom>
          <a:solidFill>
            <a:srgbClr val="D9770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1792" y="2633472"/>
            <a:ext cx="1783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85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卡片点击展开详情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2468880" y="2633472"/>
            <a:ext cx="3520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78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网格视图下原位展开会让页面高度剧烈跳动, 建议点卡片跳独立详情页</a:t>
            </a:r>
            <a:endParaRPr lang="en-US" sz="780" dirty="0"/>
          </a:p>
        </p:txBody>
      </p:sp>
      <p:sp>
        <p:nvSpPr>
          <p:cNvPr id="21" name="Shape 19"/>
          <p:cNvSpPr/>
          <p:nvPr/>
        </p:nvSpPr>
        <p:spPr>
          <a:xfrm>
            <a:off x="457200" y="3145536"/>
            <a:ext cx="5623560" cy="475488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57200" y="3145536"/>
            <a:ext cx="45720" cy="475488"/>
          </a:xfrm>
          <a:prstGeom prst="rect">
            <a:avLst/>
          </a:prstGeom>
          <a:solidFill>
            <a:srgbClr val="D9770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1792" y="3145536"/>
            <a:ext cx="1783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85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前端零单测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2468880" y="3145536"/>
            <a:ext cx="3520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78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条 E2E 冒烟不足以保护一次大改版, 建议先给跨页原语补最小单测</a:t>
            </a:r>
            <a:endParaRPr lang="en-US" sz="780" dirty="0"/>
          </a:p>
        </p:txBody>
      </p:sp>
      <p:sp>
        <p:nvSpPr>
          <p:cNvPr id="25" name="Shape 23"/>
          <p:cNvSpPr/>
          <p:nvPr/>
        </p:nvSpPr>
        <p:spPr>
          <a:xfrm>
            <a:off x="457200" y="3657600"/>
            <a:ext cx="5623560" cy="475488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7200" y="3657600"/>
            <a:ext cx="45720" cy="475488"/>
          </a:xfrm>
          <a:prstGeom prst="rect">
            <a:avLst/>
          </a:prstGeom>
          <a:solidFill>
            <a:srgbClr val="D9770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1792" y="3657600"/>
            <a:ext cx="1783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85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49 处 HTML 字符串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2468880" y="3657600"/>
            <a:ext cx="3520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78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换渲染管线时必须一次性收口, 否则改版会逐个漏改</a:t>
            </a:r>
            <a:endParaRPr lang="en-US" sz="780" dirty="0"/>
          </a:p>
        </p:txBody>
      </p:sp>
      <p:sp>
        <p:nvSpPr>
          <p:cNvPr id="29" name="Shape 27"/>
          <p:cNvSpPr/>
          <p:nvPr/>
        </p:nvSpPr>
        <p:spPr>
          <a:xfrm>
            <a:off x="457200" y="4169664"/>
            <a:ext cx="5623560" cy="475488"/>
          </a:xfrm>
          <a:prstGeom prst="rect">
            <a:avLst/>
          </a:prstGeom>
          <a:solidFill>
            <a:srgbClr val="FFFFFF"/>
          </a:solidFill>
          <a:ln w="7620">
            <a:solidFill>
              <a:srgbClr val="E5E7E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57200" y="4169664"/>
            <a:ext cx="45720" cy="475488"/>
          </a:xfrm>
          <a:prstGeom prst="rect">
            <a:avLst/>
          </a:prstGeom>
          <a:solidFill>
            <a:srgbClr val="D9770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21792" y="4169664"/>
            <a:ext cx="1783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85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两套掌握度口径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2468880" y="4169664"/>
            <a:ext cx="3520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78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看板启发式与引擎口径并存, 界面上会自相矛盾, 需先决定以哪套为准</a:t>
            </a:r>
            <a:endParaRPr lang="en-US" sz="780" dirty="0"/>
          </a:p>
        </p:txBody>
      </p:sp>
      <p:sp>
        <p:nvSpPr>
          <p:cNvPr id="33" name="Shape 31"/>
          <p:cNvSpPr/>
          <p:nvPr/>
        </p:nvSpPr>
        <p:spPr>
          <a:xfrm>
            <a:off x="6263640" y="1298448"/>
            <a:ext cx="2240280" cy="3291840"/>
          </a:xfrm>
          <a:prstGeom prst="roundRect">
            <a:avLst>
              <a:gd name="adj" fmla="val 2449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12700" dir="5400000">
              <a:srgbClr val="1F2937">
                <a:alpha val="6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6263640" y="1298448"/>
            <a:ext cx="2240280" cy="45720"/>
          </a:xfrm>
          <a:prstGeom prst="rect">
            <a:avLst/>
          </a:prstGeom>
          <a:solidFill>
            <a:srgbClr val="0596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46520" y="1463040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596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本方案不改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6446520" y="173736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8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改版只动界面层, 以下边界保持不变: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6446520" y="2157984"/>
            <a:ext cx="1920240" cy="365760"/>
          </a:xfrm>
          <a:prstGeom prst="roundRect">
            <a:avLst>
              <a:gd name="adj" fmla="val 10000"/>
            </a:avLst>
          </a:prstGeom>
          <a:solidFill>
            <a:srgbClr val="ECFDF5"/>
          </a:solidFill>
          <a:ln w="7620">
            <a:solidFill>
              <a:srgbClr val="A7F3D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46520" y="2157984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dirty="0">
                <a:solidFill>
                  <a:srgbClr val="04785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不改后端 service 契约</a:t>
            </a:r>
            <a:endParaRPr lang="en-US" sz="820" dirty="0"/>
          </a:p>
        </p:txBody>
      </p:sp>
      <p:sp>
        <p:nvSpPr>
          <p:cNvPr id="39" name="Shape 37"/>
          <p:cNvSpPr/>
          <p:nvPr/>
        </p:nvSpPr>
        <p:spPr>
          <a:xfrm>
            <a:off x="6446520" y="2596896"/>
            <a:ext cx="1920240" cy="365760"/>
          </a:xfrm>
          <a:prstGeom prst="roundRect">
            <a:avLst>
              <a:gd name="adj" fmla="val 10000"/>
            </a:avLst>
          </a:prstGeom>
          <a:solidFill>
            <a:srgbClr val="ECFDF5"/>
          </a:solidFill>
          <a:ln w="7620">
            <a:solidFill>
              <a:srgbClr val="A7F3D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446520" y="2596896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dirty="0">
                <a:solidFill>
                  <a:srgbClr val="04785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不改数据库 schema 与迁移链</a:t>
            </a:r>
            <a:endParaRPr lang="en-US" sz="820" dirty="0"/>
          </a:p>
        </p:txBody>
      </p:sp>
      <p:sp>
        <p:nvSpPr>
          <p:cNvPr id="41" name="Shape 39"/>
          <p:cNvSpPr/>
          <p:nvPr/>
        </p:nvSpPr>
        <p:spPr>
          <a:xfrm>
            <a:off x="6446520" y="3035808"/>
            <a:ext cx="1920240" cy="365760"/>
          </a:xfrm>
          <a:prstGeom prst="roundRect">
            <a:avLst>
              <a:gd name="adj" fmla="val 10000"/>
            </a:avLst>
          </a:prstGeom>
          <a:solidFill>
            <a:srgbClr val="ECFDF5"/>
          </a:solidFill>
          <a:ln w="7620">
            <a:solidFill>
              <a:srgbClr val="A7F3D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46520" y="303580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dirty="0">
                <a:solidFill>
                  <a:srgbClr val="04785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不改 AI provider 抽象层</a:t>
            </a:r>
            <a:endParaRPr lang="en-US" sz="820" dirty="0"/>
          </a:p>
        </p:txBody>
      </p:sp>
      <p:sp>
        <p:nvSpPr>
          <p:cNvPr id="43" name="Shape 41"/>
          <p:cNvSpPr/>
          <p:nvPr/>
        </p:nvSpPr>
        <p:spPr>
          <a:xfrm>
            <a:off x="6446520" y="3474720"/>
            <a:ext cx="1920240" cy="365760"/>
          </a:xfrm>
          <a:prstGeom prst="roundRect">
            <a:avLst>
              <a:gd name="adj" fmla="val 10000"/>
            </a:avLst>
          </a:prstGeom>
          <a:solidFill>
            <a:srgbClr val="ECFDF5"/>
          </a:solidFill>
          <a:ln w="7620">
            <a:solidFill>
              <a:srgbClr val="A7F3D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46520" y="34747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dirty="0">
                <a:solidFill>
                  <a:srgbClr val="04785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不动 RAG 检索与融合逻辑</a:t>
            </a:r>
            <a:endParaRPr lang="en-US" sz="820" dirty="0"/>
          </a:p>
        </p:txBody>
      </p:sp>
      <p:sp>
        <p:nvSpPr>
          <p:cNvPr id="45" name="Shape 43"/>
          <p:cNvSpPr/>
          <p:nvPr/>
        </p:nvSpPr>
        <p:spPr>
          <a:xfrm>
            <a:off x="6446520" y="3913632"/>
            <a:ext cx="1920240" cy="365760"/>
          </a:xfrm>
          <a:prstGeom prst="roundRect">
            <a:avLst>
              <a:gd name="adj" fmla="val 10000"/>
            </a:avLst>
          </a:prstGeom>
          <a:solidFill>
            <a:srgbClr val="ECFDF5"/>
          </a:solidFill>
          <a:ln w="7620">
            <a:solidFill>
              <a:srgbClr val="A7F3D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446520" y="391363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dirty="0">
                <a:solidFill>
                  <a:srgbClr val="04785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不删任何现有功能</a:t>
            </a:r>
            <a:endParaRPr lang="en-US" sz="820" dirty="0"/>
          </a:p>
        </p:txBody>
      </p:sp>
      <p:sp>
        <p:nvSpPr>
          <p:cNvPr id="47" name="Shape 45"/>
          <p:cNvSpPr/>
          <p:nvPr/>
        </p:nvSpPr>
        <p:spPr>
          <a:xfrm>
            <a:off x="8503920" y="4663440"/>
            <a:ext cx="384048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8503920" y="4663440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629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2563E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0F1F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566928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下一步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40080" y="113385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FB4D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建议先做与视觉无关的那一批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1627632"/>
            <a:ext cx="2514600" cy="1481328"/>
          </a:xfrm>
          <a:prstGeom prst="roundRect">
            <a:avLst>
              <a:gd name="adj" fmla="val 3704"/>
            </a:avLst>
          </a:prstGeom>
          <a:solidFill>
            <a:srgbClr val="2A1620"/>
          </a:solidFill>
          <a:ln w="9525">
            <a:solidFill>
              <a:srgbClr val="FF9B9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773936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9B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22960" y="202996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先修 P0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2359152"/>
            <a:ext cx="21762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A9BCD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错误边界 + 图片相对路径. 纯防御性代码, 当天可合, 与视觉改版完全解耦.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383280" y="1627632"/>
            <a:ext cx="2514600" cy="1481328"/>
          </a:xfrm>
          <a:prstGeom prst="roundRect">
            <a:avLst>
              <a:gd name="adj" fmla="val 3704"/>
            </a:avLst>
          </a:prstGeom>
          <a:solidFill>
            <a:srgbClr val="2A2314"/>
          </a:solidFill>
          <a:ln w="9525">
            <a:solidFill>
              <a:srgbClr val="FCD34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66160" y="1773936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CD3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566160" y="202996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再评审成品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566160" y="2359152"/>
            <a:ext cx="21762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A9BCD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四张 mockup 逐页确认交互细节, 尤其是错题本卡片网格的落地方式.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6126480" y="1627632"/>
            <a:ext cx="2514600" cy="1481328"/>
          </a:xfrm>
          <a:prstGeom prst="roundRect">
            <a:avLst>
              <a:gd name="adj" fmla="val 3704"/>
            </a:avLst>
          </a:prstGeom>
          <a:solidFill>
            <a:srgbClr val="102A22"/>
          </a:solidFill>
          <a:ln w="9525">
            <a:solidFill>
              <a:srgbClr val="6EE7B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09360" y="1773936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EE7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309360" y="202996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最后动代码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309360" y="2359152"/>
            <a:ext cx="21762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A9BCD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按六批路径推进, 每批独立发布, 不做大爆炸式改版.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640080" y="336499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需要你拍板的三个问题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58368" y="3776472"/>
            <a:ext cx="64008" cy="6400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0" name="Text 18"/>
          <p:cNvSpPr/>
          <p:nvPr/>
        </p:nvSpPr>
        <p:spPr>
          <a:xfrm>
            <a:off x="822960" y="3685032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8D8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看板与引擎两套掌握度口径, 界面上以哪套为准?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58368" y="4123944"/>
            <a:ext cx="64008" cy="6400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2" name="Text 20"/>
          <p:cNvSpPr/>
          <p:nvPr/>
        </p:nvSpPr>
        <p:spPr>
          <a:xfrm>
            <a:off x="822960" y="4032504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8D8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错题本卡片点击后, 原位展开还是跳独立详情页?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58368" y="4471416"/>
            <a:ext cx="64008" cy="6400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4" name="Text 22"/>
          <p:cNvSpPr/>
          <p:nvPr/>
        </p:nvSpPr>
        <p:spPr>
          <a:xfrm>
            <a:off x="822960" y="4379976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8D8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是否给前端跨页原语补最小单测, 作为改版的回归保护?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8503920" y="4663440"/>
            <a:ext cx="384048" cy="256032"/>
          </a:xfrm>
          <a:prstGeom prst="rect">
            <a:avLst/>
          </a:prstGeom>
          <a:solidFill>
            <a:srgbClr val="0F1F3A"/>
          </a:solidFill>
          <a:ln w="9525">
            <a:solidFill>
              <a:srgbClr val="2C5A9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503920" y="4663440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FB4D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MathMaster Edu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MathMaster Edu 界面重设计方案 v1.0</dc:title>
  <dc:subject>信息架构 / 视觉层级 / 交互密度 重做方案</dc:subject>
  <dc:creator>Mavis</dc:creator>
  <cp:lastModifiedBy>Mavis</cp:lastModifiedBy>
  <cp:revision>1</cp:revision>
  <dcterms:created xsi:type="dcterms:W3CDTF">2026-10-04T16:00:12Z</dcterms:created>
  <dcterms:modified xsi:type="dcterms:W3CDTF">2026-10-04T16:00:12Z</dcterms:modified>
</cp:coreProperties>
</file>