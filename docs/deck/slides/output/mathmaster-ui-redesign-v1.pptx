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28016"/>
            <a:ext cx="2606040" cy="5015484"/>
          </a:xfrm>
          <a:prstGeom prst="rect">
            <a:avLst/>
          </a:prstGeom>
          <a:solidFill>
            <a:srgbClr val="0F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051560"/>
            <a:ext cx="1234440" cy="45720"/>
          </a:xfrm>
          <a:prstGeom prst="rect">
            <a:avLst/>
          </a:prstGeom>
          <a:solidFill>
            <a:srgbClr val="2C5A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1234440"/>
            <a:ext cx="685800" cy="45720"/>
          </a:xfrm>
          <a:prstGeom prst="rect">
            <a:avLst/>
          </a:prstGeom>
          <a:solidFill>
            <a:srgbClr val="2C5A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77724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777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16152" y="7772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MathMaster Edu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界面重设计方案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685800" y="257860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FB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从功能平铺走向任务驱动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50292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6499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一次针对信息架构 / 视觉层级 / 交互密度的整体重做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E7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43525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设计稿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30552" y="4160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E7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30552" y="43525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2026-10-01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75304" y="4160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E7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75304" y="43525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核心页 + 设计系统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0056" y="4160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E7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0056" y="43525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 / 未落代码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2376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7223760" y="23042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个页面重新设计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23760" y="2743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7223760" y="33558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 P0 体验事故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23760" y="37673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7223760" y="43799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批落地路径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四个部分, 从现状到成品再到落地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66928" cy="658368"/>
          </a:xfrm>
          <a:prstGeom prst="rect">
            <a:avLst/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146304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98448" y="1545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项目与现状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8105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现状速览 / 能力全景 / 问题诊断 / 现状实拍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3640" y="14630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566928" cy="658368"/>
          </a:xfrm>
          <a:prstGeom prst="rect">
            <a:avLst/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0428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97280" y="2304288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98448" y="2386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设计原则与系统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2651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四条原则 / 色彩 token / 跨页基建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23042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45536"/>
            <a:ext cx="566928" cy="658368"/>
          </a:xfrm>
          <a:prstGeom prst="rect">
            <a:avLst/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4553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97280" y="3145536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98448" y="3227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成品设计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34930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四页高保真 / 侧边栏前后对比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314553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566928" cy="658368"/>
          </a:xfrm>
          <a:prstGeom prst="rect">
            <a:avLst/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8678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97280" y="3986784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98448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落地路径与风险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8448" y="43342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六批路径 / 风险与边界 / 下一步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398678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40880" y="1463040"/>
            <a:ext cx="164592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40880" y="1463040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6642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本次范围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23760" y="2121408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7379208" y="2039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MUJI 配色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223760" y="2578608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7379208" y="24963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重做信息层级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23760" y="3035808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7379208" y="2953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新增错误边界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223760" y="3493008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7379208" y="3410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收敛组件原语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223760" y="3950208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7379208" y="3867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不改后端契约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C5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383280" y="1965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项目与现状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83280" y="2606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一个功能密度很高, 但界面层级没有跟上产品演进的全栈项目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0F1F3A"/>
          </a:solidFill>
          <a:ln w="9525">
            <a:solidFill>
              <a:srgbClr val="2C5A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PROJECT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项目速览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分层清晰, 测试扎实 -- 问题不在架构, 而在界面层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64008" cy="566928"/>
          </a:xfrm>
          <a:prstGeom prst="rect">
            <a:avLst/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447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界面层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06040" y="13716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个页面 + 公共组件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29968"/>
            <a:ext cx="64008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1031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23042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网关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06040" y="20299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认证 / RBAC / 限流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88336"/>
            <a:ext cx="64008" cy="566928"/>
          </a:xfrm>
          <a:prstGeom prst="rect">
            <a:avLst/>
          </a:prstGeom>
          <a:solidFill>
            <a:srgbClr val="2C5A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7614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backend/services/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29626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应用服务层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06040" y="26883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QuestionService 七领域 Mixin + Agent + Job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46704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46704"/>
            <a:ext cx="64008" cy="566928"/>
          </a:xfrm>
          <a:prstGeom prst="rect">
            <a:avLst/>
          </a:prstGeom>
          <a:solidFill>
            <a:srgbClr val="3E7B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198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backend/repositories/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36210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数据访问层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06040" y="33467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错题 / 统计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05072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05072"/>
            <a:ext cx="64008" cy="566928"/>
          </a:xfrm>
          <a:prstGeom prst="rect">
            <a:avLst/>
          </a:prstGeom>
          <a:solidFill>
            <a:srgbClr val="7FA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0782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backend/models/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427939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ORM 与契约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06040" y="40050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 2.0 + Pydantic Schema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6817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数据层: SQLAlchemy ORM + ChromaDB 向量库 + 本地图片存储 + 可选 Redis 队列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23560" y="137160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358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623560" y="18836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用例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137160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675120" y="18836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 (无门禁)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26680" y="137160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726680" y="18836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23560" y="254203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623560" y="30540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Alembic 迁移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0" y="254203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675120" y="30540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工具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26680" y="254203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7726680" y="30540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job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32120" y="3767328"/>
            <a:ext cx="288036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32120" y="3767328"/>
            <a:ext cx="28803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39136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一个需要先对齐的事实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715000" y="4151376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 声称覆盖率约 90%, 实测 79% 且无门禁. 前端层零单测, 仅靠 5 条 E2E 冒烟.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PRODUCT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产品能力全景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功能已经很完整 -- 这正是界面承压的原因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51460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813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472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录题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185623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177393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多提供商抽象: SiliconFlow / 通义 / GLM / DeepSeek / Ollama / Gemini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204825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Schema 约束结构化输出, 三级兜底解析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40080" y="240487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232257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 + 批量上传 + Word 导入 (确定性门禁优先, 100 题上限)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40080" y="267919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25968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SHA-256 图片去重, 命中跳过 AI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154680" y="1353312"/>
            <a:ext cx="251460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353312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14813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85032" y="1472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复习调度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337560" y="185623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177393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SM-2 间隔重复 (Anki 同源), ease 下限 1.3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337560" y="213055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3456432" y="204825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知识点掌握度引擎: 复习日志时间加权 + 遗忘衰减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337560" y="240487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3456432" y="232257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今日计划 = SM-2 到期 + 薄弱补位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337560" y="267919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3456432" y="25968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已归档题 (reps&gt;=3 且间隔&gt;=21 天) 不入池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852160" y="1353312"/>
            <a:ext cx="251460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52160" y="1353312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14813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1472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检索与 RAG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035040" y="185623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6153912" y="177393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关键词下推 + 向量深候选池 -&gt; RRF(k=60) 融合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035040" y="213055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6153912" y="204825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 Hydrate 防 N+1, 末端分页不丢题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035040" y="240487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9" name="Text 37"/>
          <p:cNvSpPr/>
          <p:nvPr/>
        </p:nvSpPr>
        <p:spPr>
          <a:xfrm>
            <a:off x="6153912" y="232257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举一反三: 解析自动嵌入并召回相似历史错题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6035040" y="2679192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1" name="Text 39"/>
          <p:cNvSpPr/>
          <p:nvPr/>
        </p:nvSpPr>
        <p:spPr>
          <a:xfrm>
            <a:off x="6153912" y="25968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向量库三处降级关键词, 离线评测 Recall/MRR/NDCG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457200" y="3108960"/>
            <a:ext cx="251460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108960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32369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87552" y="3227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学情分析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40080" y="361188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7" name="Text 45"/>
          <p:cNvSpPr/>
          <p:nvPr/>
        </p:nvSpPr>
        <p:spPr>
          <a:xfrm>
            <a:off x="758952" y="352958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天热力图 / 正确率趋势 / 掌握度成长曲线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40080" y="388620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9" name="Text 47"/>
          <p:cNvSpPr/>
          <p:nvPr/>
        </p:nvSpPr>
        <p:spPr>
          <a:xfrm>
            <a:off x="758952" y="380390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薄弱知识点排行与雷达图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40080" y="416052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1" name="Text 49"/>
          <p:cNvSpPr/>
          <p:nvPr/>
        </p:nvSpPr>
        <p:spPr>
          <a:xfrm>
            <a:off x="758952" y="407822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知识图谱: 标签共现力导向, 节点着色=掌握度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40080" y="443484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3" name="Text 51"/>
          <p:cNvSpPr/>
          <p:nvPr/>
        </p:nvSpPr>
        <p:spPr>
          <a:xfrm>
            <a:off x="758952" y="435254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周报聚合 + 环比 + Markdown/Word 导出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3154680" y="3108960"/>
            <a:ext cx="251460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154680" y="3108960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19272" y="32369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685032" y="3227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助手 / Agent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3337560" y="361188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9" name="Text 57"/>
          <p:cNvSpPr/>
          <p:nvPr/>
        </p:nvSpPr>
        <p:spPr>
          <a:xfrm>
            <a:off x="3456432" y="352958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工具 Tool-use Agent, 最多 8 轮自主编排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3337560" y="388620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1" name="Text 59"/>
          <p:cNvSpPr/>
          <p:nvPr/>
        </p:nvSpPr>
        <p:spPr>
          <a:xfrm>
            <a:off x="3456432" y="380390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流式打字机 + 对话持久化与跨端续聊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3337560" y="416052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3456432" y="407822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 可被 Claude Desktop / Cursor 调用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3337560" y="443484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5" name="Text 63"/>
          <p:cNvSpPr/>
          <p:nvPr/>
        </p:nvSpPr>
        <p:spPr>
          <a:xfrm>
            <a:off x="3456432" y="435254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Key 时本地规则应答, 流程不中断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5852160" y="3108960"/>
            <a:ext cx="251460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852160" y="3108960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16752" y="32369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382512" y="3227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家校闭环 + 工程化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6035040" y="361188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1" name="Text 69"/>
          <p:cNvSpPr/>
          <p:nvPr/>
        </p:nvSpPr>
        <p:spPr>
          <a:xfrm>
            <a:off x="6153912" y="352958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班级多租户: 建班后检索收紧为本班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6035040" y="388620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3" name="Text 71"/>
          <p:cNvSpPr/>
          <p:nvPr/>
        </p:nvSpPr>
        <p:spPr>
          <a:xfrm>
            <a:off x="6153912" y="380390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教师批注 + 未读红点 (以批注 ID 为水位线)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6035040" y="416052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5" name="Text 73"/>
          <p:cNvSpPr/>
          <p:nvPr/>
        </p:nvSpPr>
        <p:spPr>
          <a:xfrm>
            <a:off x="6153912" y="407822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 / repositories / models 分层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6035040" y="4434840"/>
            <a:ext cx="4572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7" name="Text 75"/>
          <p:cNvSpPr/>
          <p:nvPr/>
        </p:nvSpPr>
        <p:spPr>
          <a:xfrm>
            <a:off x="6153912" y="435254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job CI: lint / 版本矩阵 / 冒烟 / Docker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DIAGNOSIS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诊断总览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个问题, 全部有代码位置与截图依据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514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25146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17904"/>
            <a:ext cx="402336" cy="219456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51790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94560" y="14447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15361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体验事故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457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11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异常无边界, traceback 直接打屏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40080" y="2359152"/>
            <a:ext cx="457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225856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图片路径不可移植, 换机必崩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3154680" y="1353312"/>
            <a:ext cx="2514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353312"/>
            <a:ext cx="25146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1517904"/>
            <a:ext cx="402336" cy="219456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51790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14447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794760" y="15361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效率损失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2011680"/>
            <a:ext cx="4572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1911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个导航项平铺, 无主次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3337560" y="2359152"/>
            <a:ext cx="4572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3456432" y="225856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错题本筛选区吃掉首屏 60%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337560" y="2706624"/>
            <a:ext cx="4572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3456432" y="26060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个图表等权重纵向平铺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337560" y="3054096"/>
            <a:ext cx="4572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3456432" y="29535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列表项 7 类信息挤在一行纯文本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5852160" y="1353312"/>
            <a:ext cx="2514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52160" y="1353312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16752" y="1517904"/>
            <a:ext cx="402336" cy="219456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151790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89520" y="14447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492240" y="15361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011680"/>
            <a:ext cx="457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6153912" y="1911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统计卡 3 套实现 / 空状态 4 种写法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6035040" y="2359152"/>
            <a:ext cx="457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6153912" y="225856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状态色 2 套映射 (shaky 一红一灰)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6035040" y="2706624"/>
            <a:ext cx="457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6153912" y="26060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i18n 框架存在, 9 个页面 0 处使用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6035040" y="3054096"/>
            <a:ext cx="457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6153912" y="29535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深色模式靠 20 条 !important 打补丁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4572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量化后的技术债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3785616"/>
            <a:ext cx="187452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603504" y="43159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 unsafe_allow_html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03504" y="4517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 4 处把 AI 生成内容当 HTML 渲染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87168" y="3785616"/>
            <a:ext cx="187452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33472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2633472" y="43159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个页面有裸 service 调用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633472" y="4517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/ mastery / assistant / auth / review 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17136" y="3785616"/>
            <a:ext cx="187452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4663440" y="43159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个平级导航项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663440" y="4517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核心动作与低频设置视觉权重相同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547104" y="3785616"/>
            <a:ext cx="187452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93408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6693408" y="43159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 E2E 用例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693408" y="4517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前端层零单测, 改版无回归保护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P0-1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异常没有边界, traceback 直接打屏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仓库里已有 review.png 记录了这次事故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00600" y="1298448"/>
            <a:ext cx="3611880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pic>
        <p:nvPicPr>
          <p:cNvPr id="7" name="Image 0" descr="../screenshots/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896" y="1380744"/>
            <a:ext cx="3447288" cy="2423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00600" y="39319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docs/screenshots/review.png -- 用户实际看到的画面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800600" y="4224528"/>
            <a:ext cx="3611880" cy="658368"/>
          </a:xfrm>
          <a:prstGeom prst="roundRect">
            <a:avLst>
              <a:gd name="adj" fmla="val 6944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4315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37760" y="44988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frontend/pages/review.py:101  st.image(question.image_path) 无 os.path.exists 检查, 也无 try 包裹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12984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同一种模式遍布 7 个页面 -- service 调用没有安全包装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609344"/>
            <a:ext cx="42976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1609344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" y="16093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graph.py:34 / :40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121408" y="16093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list_questions + dashboard_stats 全量拉取, 无 try 无 spinner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457200" y="2011680"/>
            <a:ext cx="42976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011680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" y="20116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mastery.py:57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2121408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mastery_profile 裸调用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457200" y="2414016"/>
            <a:ext cx="42976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2414016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" y="24140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assistant.py:59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121408" y="24140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list_for_user 裸调用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457200" y="2816352"/>
            <a:ext cx="42976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816352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" y="28163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auth.py:57 / :90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2121408" y="2816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登录与注册裸调用, DB 挂掉直接打登录页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457200" y="3218688"/>
            <a:ext cx="42976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3218688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3504" y="32186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review.py:41/45/102/182/225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2121408" y="32186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队列/快照/评分/历史共 5 处裸调用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457200" y="3621024"/>
            <a:ext cx="42976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3621024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3504" y="362102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settings.py:79/171/184/206/215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2121408" y="36210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向量库可用性 / 标签删除 / 数据体检 6 处裸调用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457200" y="4023360"/>
            <a:ext cx="42976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" y="4023360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3504" y="40233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students.py:223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121408" y="4023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每学生一次 list_questions, 40 人 = 40 次全表查询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457200" y="4480560"/>
            <a:ext cx="4297680" cy="402336"/>
          </a:xfrm>
          <a:prstGeom prst="roundRect">
            <a:avLst>
              <a:gd name="adj" fmla="val 11364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3504" y="44805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第一批修复: 加一个 safe_call() 包装层 + 统一的 error_card 降级组件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P0-2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图片路径不可移植, AI 内容被当 HTML 渲染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两个问题都直接指向"数据可信度"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7947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79476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1790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33856" y="1499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图片路径存的是绝对路径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1883664"/>
            <a:ext cx="3621024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202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实际存储值:</a:t>
            </a:r>
            <a:endParaRPr lang="en-US" sz="7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C:\Users\liyun\.zcode\workspace\default\</a:t>
            </a:r>
            <a:endParaRPr lang="en-US" sz="7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Math_Tutor_RAG\data\images\u2\20260915.jpg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58368" y="2679192"/>
            <a:ext cx="64008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87752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换机器必崩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截图里的报错就是这条路径失效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3246120"/>
            <a:ext cx="64008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54680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v2.10.0 只做了兜底提示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根因未改, 一次改写脚本不是修复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813048"/>
            <a:ext cx="64008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2160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建议改存相对路径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data/images/xxx.jpg, 读取时用 __file__ 拼接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37947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325880"/>
            <a:ext cx="3794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151790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40096" y="1499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生成内容被当 HTML 渲染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64608" y="1883664"/>
            <a:ext cx="3621024" cy="566928"/>
          </a:xfrm>
          <a:prstGeom prst="rect">
            <a:avLst/>
          </a:prstGeom>
          <a:solidFill>
            <a:srgbClr val="F8FAFC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9202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review.py:158  st.markdown(content_markdown[:220],</a:t>
            </a:r>
            <a:endParaRPr lang="en-US" sz="7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unsafe_allow_html=True)</a:t>
            </a:r>
            <a:endParaRPr lang="en-US" sz="7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tutor.py:215    同样把 analysis.analysis 直接渲染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864608" y="2679192"/>
            <a:ext cx="64008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587752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全项目 49 处 unsafe_allow_html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settings.py 一个文件就占 12 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64608" y="3246120"/>
            <a:ext cx="64008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154680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assistant.py:166 泄漏内部细节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把原始异常字符串直接展示给用户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64608" y="3813048"/>
            <a:ext cx="64008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72160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改版换渲染管线时必须一起收口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否则会逐个漏改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P1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信息架构: 功能都平铺出来了, 但没有主次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四个问题都指向同一件事 -- 用户打开应用的第一问没有得到回答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7947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45720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538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个导航项完全平级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984248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录题 (核心动作) 与 设置 (低频) 视觉权重相同, 也没有"今天该做什么"的入口.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7947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25880"/>
            <a:ext cx="45720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4538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筛选区吃掉首屏 60%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984248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toggle + 2 个下拉 + 搜索框默认全关, 等于白占空间, 真正的列表被推到折叠线以下.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37947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27248"/>
            <a:ext cx="45720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552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个图表等权重平铺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785616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知识点分布/薄弱/录入趋势/日历/正确率/难度 同尺寸同位置堆叠, 核心指标被稀释.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127248"/>
            <a:ext cx="37947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127248"/>
            <a:ext cx="45720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2552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一行塞了 7 类信息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785616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到期标记+星标+标签+难度+日期+掌握度+未读批注 串成纯文本, 扫读成本极高.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52928" y="1481328"/>
            <a:ext cx="1234440" cy="118872"/>
          </a:xfrm>
          <a:prstGeom prst="rect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9504" y="1527048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52928" y="1623060"/>
            <a:ext cx="123444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9504" y="1668780"/>
            <a:ext cx="347472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52928" y="1764792"/>
            <a:ext cx="123444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9504" y="1810512"/>
            <a:ext cx="347472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52928" y="1906524"/>
            <a:ext cx="123444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89504" y="1952244"/>
            <a:ext cx="347472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52928" y="2048256"/>
            <a:ext cx="123444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89504" y="2093976"/>
            <a:ext cx="347472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52928" y="2189988"/>
            <a:ext cx="123444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89504" y="2235708"/>
            <a:ext cx="347472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52928" y="2331720"/>
            <a:ext cx="123444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9504" y="2377440"/>
            <a:ext cx="347472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52928" y="2473452"/>
            <a:ext cx="123444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9504" y="2519172"/>
            <a:ext cx="347472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52928" y="2615184"/>
            <a:ext cx="123444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9504" y="2660904"/>
            <a:ext cx="347472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52928" y="277977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个分组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967728" y="1481328"/>
            <a:ext cx="1234440" cy="841248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040880" y="1572768"/>
            <a:ext cx="310896" cy="73152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24928" y="1572768"/>
            <a:ext cx="841248" cy="73152"/>
          </a:xfrm>
          <a:prstGeom prst="rect">
            <a:avLst/>
          </a:prstGeom>
          <a:solidFill>
            <a:srgbClr val="FECA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40880" y="1709928"/>
            <a:ext cx="310896" cy="73152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24928" y="1709928"/>
            <a:ext cx="841248" cy="73152"/>
          </a:xfrm>
          <a:prstGeom prst="rect">
            <a:avLst/>
          </a:prstGeom>
          <a:solidFill>
            <a:srgbClr val="FECA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0880" y="1847088"/>
            <a:ext cx="310896" cy="73152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24928" y="1847088"/>
            <a:ext cx="841248" cy="73152"/>
          </a:xfrm>
          <a:prstGeom prst="rect">
            <a:avLst/>
          </a:prstGeom>
          <a:solidFill>
            <a:srgbClr val="FECA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40880" y="1984248"/>
            <a:ext cx="310896" cy="73152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24928" y="1984248"/>
            <a:ext cx="841248" cy="73152"/>
          </a:xfrm>
          <a:prstGeom prst="rect">
            <a:avLst/>
          </a:prstGeom>
          <a:solidFill>
            <a:srgbClr val="FECA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40880" y="2121408"/>
            <a:ext cx="310896" cy="73152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24928" y="2121408"/>
            <a:ext cx="841248" cy="73152"/>
          </a:xfrm>
          <a:prstGeom prst="rect">
            <a:avLst/>
          </a:prstGeom>
          <a:solidFill>
            <a:srgbClr val="FECA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67728" y="2395728"/>
            <a:ext cx="12344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67728" y="23957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列表在这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967728" y="277977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 屏幕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852928" y="3282696"/>
            <a:ext cx="6400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07792" y="3355848"/>
            <a:ext cx="530352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3282696"/>
            <a:ext cx="6400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21024" y="3355848"/>
            <a:ext cx="530352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52928" y="3666744"/>
            <a:ext cx="6400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07792" y="3739896"/>
            <a:ext cx="530352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3666744"/>
            <a:ext cx="6400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21024" y="3739896"/>
            <a:ext cx="530352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852928" y="4050792"/>
            <a:ext cx="6400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07792" y="4123944"/>
            <a:ext cx="530352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566160" y="4050792"/>
            <a:ext cx="6400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21024" y="4123944"/>
            <a:ext cx="530352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52928" y="44714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无主次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967728" y="3282696"/>
            <a:ext cx="123444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13448" y="3374136"/>
            <a:ext cx="153619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85355" y="3374136"/>
            <a:ext cx="384048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87691" y="3374136"/>
            <a:ext cx="28163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87614" y="3374136"/>
            <a:ext cx="230429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36331" y="3374136"/>
            <a:ext cx="153619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67728" y="3557016"/>
            <a:ext cx="123444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013448" y="3648456"/>
            <a:ext cx="153619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85355" y="3648456"/>
            <a:ext cx="384048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587691" y="3648456"/>
            <a:ext cx="28163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87614" y="3648456"/>
            <a:ext cx="230429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36331" y="3648456"/>
            <a:ext cx="153619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67728" y="3831336"/>
            <a:ext cx="123444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13448" y="3922776"/>
            <a:ext cx="153619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85355" y="3922776"/>
            <a:ext cx="384048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7691" y="3922776"/>
            <a:ext cx="28163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887614" y="3922776"/>
            <a:ext cx="230429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36331" y="3922776"/>
            <a:ext cx="153619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967728" y="4105656"/>
            <a:ext cx="123444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13448" y="4197096"/>
            <a:ext cx="153619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185355" y="4197096"/>
            <a:ext cx="384048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587691" y="4197096"/>
            <a:ext cx="281635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887614" y="4197096"/>
            <a:ext cx="230429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36331" y="4197096"/>
            <a:ext cx="153619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67728" y="44714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类 / 1 行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P2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一致性债: 同一个东西有 N 种实现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这类债在改版时会被放大 -- 每处都要单独改, 漏一处就不一致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001000" cy="292608"/>
          </a:xfrm>
          <a:prstGeom prst="rect">
            <a:avLst/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984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17320" y="1298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0" y="129844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具体位置与症状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8001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627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162763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统计卡实现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0" y="162763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common.py stat_card() / review.py:120 手写 / students.py:174 手写(还带多余闭合标签)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8001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0312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21031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空状态写法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0" y="210312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st.info / st.success 表达无数据 / 手写 .mm-empty / st.caption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8001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5786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套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257860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状态色映射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257860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mastery.py:9 shaky=#94a3b8  vs  graph.py:12 shaky=#d97706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57200" y="3054096"/>
            <a:ext cx="8001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0540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套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305409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标题层级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0" y="3054096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page_header / st.subheader / st.markdown("####"), students.py 一页两个 page_header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3529584"/>
            <a:ext cx="8001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5295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35295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徽章裸拼字符串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0" y="352958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/ tutor / mastery / graph / assistant / settings 各写各的 f-string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8001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005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处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40050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i18n 实际使用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0" y="400507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框架存在, 但 9 个页面全是硬编码中文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001000" cy="384048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553712"/>
            <a:ext cx="457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5537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改版前必须先做跨页基建 -- 统一 badge() / empty_state() / stat_card() 三个原语, 抽出单一 mastery_color() 映射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EVIDENCE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现状实拍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取自 docs/screenshots/, v2.9.0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057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pic>
        <p:nvPicPr>
          <p:cNvPr id="7" name="Image 0" descr="../screen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316736"/>
            <a:ext cx="1984248" cy="1298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8833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学情看板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87121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横幅占 1/4 屏; 8 个等权重盒子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697480" y="1280160"/>
            <a:ext cx="2057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pic>
        <p:nvPicPr>
          <p:cNvPr id="11" name="Image 1" descr="../screenshots/note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1316736"/>
            <a:ext cx="1984248" cy="1298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68833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697480" y="287121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筛选区占首屏大半; 列表无缩略图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2057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pic>
        <p:nvPicPr>
          <p:cNvPr id="15" name="Image 2" descr="../screenshots/re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145536"/>
            <a:ext cx="1984248" cy="12984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" y="451713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今日复习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470001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崩溃态: traceback 直接打屏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2697480" y="3108960"/>
            <a:ext cx="2057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pic>
        <p:nvPicPr>
          <p:cNvPr id="19" name="Image 3" descr="../screenshots/tu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3145536"/>
            <a:ext cx="1984248" cy="12984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697480" y="451713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录题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2697480" y="470001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上传控件仅 40px 高; 下方 45% 浪费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937760" y="12801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937760" y="1280160"/>
            <a:ext cx="35204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120640" y="142646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四张图共同暴露的问题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120640" y="1783080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0"/>
          <p:cNvSpPr/>
          <p:nvPr/>
        </p:nvSpPr>
        <p:spPr>
          <a:xfrm>
            <a:off x="5285232" y="169164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没有一个页面回答"我现在该做什么"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120640" y="2148840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2"/>
          <p:cNvSpPr/>
          <p:nvPr/>
        </p:nvSpPr>
        <p:spPr>
          <a:xfrm>
            <a:off x="5285232" y="205740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视觉层级靠盒子堆叠, 不是靠留白和权重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120640" y="2514600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4"/>
          <p:cNvSpPr/>
          <p:nvPr/>
        </p:nvSpPr>
        <p:spPr>
          <a:xfrm>
            <a:off x="5285232" y="242316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状态信息没有颜色编码, 全部退化成文字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937760" y="31089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FFBE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937760" y="3108960"/>
            <a:ext cx="35204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120640" y="325526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但配色本身是对的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5120640" y="354787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MUJI 藏青 + 克制留白的判断是准确的, 无紫无炫技动效. 本方案予以保留, 改的是层级与密度, 不是审美口味.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C5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383280" y="1965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设计原则与系统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83280" y="2606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改版过程中出现取舍冲突时, 按优先级从上往下判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0F1F3A"/>
          </a:solidFill>
          <a:ln w="9525">
            <a:solidFill>
              <a:srgbClr val="2C5A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PRINCIPLES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四条设计原则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后面所有取舍都按这四条判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40233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544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任务优先于功能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2144" y="17922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用户打开应用的第一问是"今天该复习什么"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2084832"/>
            <a:ext cx="3621024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176272"/>
            <a:ext cx="3621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不是"这个应用有哪些功能". 看板第一屏必须给出可执行的下一步, 而不是一堆数字. 功能入口退居侧边栏.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233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71600"/>
            <a:ext cx="40233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15544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58384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数据必须可扫读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58384" y="17922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一行文本超过 3 类信息就该拆开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64608" y="2084832"/>
            <a:ext cx="3621024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176272"/>
            <a:ext cx="3621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掌握度用色环加颜色编码, 状态用图标. 颜色只承载一个含义: 红=薄弱 / 琥珀=待复习 / 绿=已掌握.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40233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40233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2461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" y="32278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默认折叠次要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2144" y="34838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低频操作不该常驻在首屏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" y="3776472"/>
            <a:ext cx="3621024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867912"/>
            <a:ext cx="3621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筛选项 / 导出格式 / 难度分布收进抽屉或菜单, 用 chip 显式回显当前生效的条件, 让用户知道自己处在什么视图里.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063240"/>
            <a:ext cx="40233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063240"/>
            <a:ext cx="40233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32461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58384" y="32278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MUJI 骨相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58384" y="34838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克制的配色判断是对的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64608" y="3776472"/>
            <a:ext cx="3621024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867912"/>
            <a:ext cx="3621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本方案予以保留, 改的是层级与密度, 不是审美口味. 藏青标题 / 石板灰正文 / 蓝色点缀, 大量留白.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TOKENS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色彩系统: 新增三档掌握度语义色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阈值直接对齐后端引擎, 前端不再自己定义一套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577840" cy="274320"/>
          </a:xfrm>
          <a:prstGeom prst="rect">
            <a:avLst/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1298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09344"/>
            <a:ext cx="5577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170992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6093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16294A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27632" y="16093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--navy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60934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品牌深色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0" y="160934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 / Hero / 主按钮底色. 较原 #1a365d 略深, 压得住大色块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57200" y="2121408"/>
            <a:ext cx="5577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22219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212140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2563EB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627632" y="212140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--brand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12140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交互蓝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0" y="212140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可点击元素 / 当前选中态 / 进度条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5577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26334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DC2626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627632" y="26334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--weak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0" y="263347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0" y="263347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掌握度 &lt; 40%, 与后端 WEAK_THRESHOLD 同源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457200" y="3145536"/>
            <a:ext cx="5577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" y="3246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314553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D97706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627632" y="31455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--shaky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0" y="314553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不稳固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0" y="314553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掌握度 40%-70% 或待复习, 与 SHAKY_THRESHOLD 同源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5577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" y="375818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" y="365760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059669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27632" y="36576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--good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60320" y="365760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已掌握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74720" y="36576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掌握度 &gt; 70% 或数学验证通过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457200" y="4169664"/>
            <a:ext cx="5577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" y="427024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976" y="416966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F7F8FA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627632" y="41696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--bg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60320" y="416966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页面底色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74720" y="416966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 #f8fafc 略暖, 接近纸张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6172200" y="1298448"/>
            <a:ext cx="22860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1298448"/>
            <a:ext cx="2286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14447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三档刻度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355080" y="17739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58000" y="17739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40%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355080" y="1975104"/>
            <a:ext cx="1920240" cy="91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5080" y="1975104"/>
            <a:ext cx="768096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2176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不稳固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58000" y="21762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- 70%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355080" y="2377440"/>
            <a:ext cx="1920240" cy="91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55080" y="2377440"/>
            <a:ext cx="1190549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2578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已掌握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58000" y="2578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70%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355080" y="2779776"/>
            <a:ext cx="1920240" cy="91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55080" y="2779776"/>
            <a:ext cx="1766621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72200" y="3200400"/>
            <a:ext cx="2286000" cy="1627632"/>
          </a:xfrm>
          <a:prstGeom prst="roundRect">
            <a:avLst>
              <a:gd name="adj" fmla="val 3371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33467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一条硬约束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355080" y="3621024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三档色只用于表达掌握度与状态, 不用于装饰. 一个界面上红色出现超过 3 处, 就说明层级出了问题 -- 应该把它折叠进"薄弱"筛选, 而不是全量铺开.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FOUNDATION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先修地基: 深色模式变量化 + 五个跨页原语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这五步做完, 后面每页改版才不会逐个漏改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9776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深色模式: 覆盖式改为变量对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73936"/>
            <a:ext cx="1691640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theme.py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0080" y="19751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条 !important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逐个组件打补丁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744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97480" y="1773936"/>
            <a:ext cx="1737360" cy="548640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8105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CSS 变量对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97480" y="19751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[data-theme=dark]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--card; --ink; --line }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0080" y="2395728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新组件只用变量, 自动适配双主题. 顺带修掉 settings.py:30 那句"刷新后失效"的半成品开关.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663440" y="1325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五个跨页原语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645920"/>
            <a:ext cx="37490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45920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69164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badge(text, tone)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28032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个文件共 7 处各拼 f-string, 收敛成带 tone 的组件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7699248" y="1773936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9248" y="1773936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 7 处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63440" y="2267712"/>
            <a:ext cx="37490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267712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3134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empty_state(icon, title, action)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28032" y="25237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种写法统一, 空状态同时给出下一步操作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7699248" y="2395728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9248" y="239572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 4 处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3440" y="2889504"/>
            <a:ext cx="37490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889504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9352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stat_card() 回流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28032" y="3145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review.py / students.py 手写副本删掉, 统一走 common.py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7699248" y="3017520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9248" y="301752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 2 处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3511296"/>
            <a:ext cx="37490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511296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5570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mastery_color(token)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28032" y="3767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mastery.py 与 graph.py 的两套色表合并为单一来源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7699248" y="3639312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9248" y="363931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 1 处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63440" y="4133088"/>
            <a:ext cx="37490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4133088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41788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safe_call(service, fn)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28032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service 调用包一层, 异常转成 error_card 而非 traceback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7699248" y="4261104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9248" y="4261104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 7 页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57200" y="3401568"/>
            <a:ext cx="3977640" cy="1463040"/>
          </a:xfrm>
          <a:prstGeom prst="roundRect">
            <a:avLst>
              <a:gd name="adj" fmla="val 375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5295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为什么必须先做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3785616"/>
            <a:ext cx="3611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 处 HTML 字符串 + 8 处裸异常, 如果直接逐页改视觉, 这些点会被逐个漏改, 改完的版本会比分批改更不一致.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C5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383280" y="1965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成品设计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83280" y="2606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四张高保真, 侧边栏与顶栏在四页之间保持一致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0F1F3A"/>
          </a:solidFill>
          <a:ln w="9525">
            <a:solidFill>
              <a:srgbClr val="2C5A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MOCKUP 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学情看板: 把数据变成决策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第一屏直接回答"今天该做什么", 其余图表收进折叠区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7959" y="1243584"/>
            <a:ext cx="481340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pic>
        <p:nvPicPr>
          <p:cNvPr id="7" name="Image 0" descr="assets/mock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" y="1280160"/>
            <a:ext cx="4740250" cy="3584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06440" y="12801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1517904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34456" y="149961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欢迎横幅 + 4 张统计卡 + 4 个操作按钮 = 8 个等权重盒子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5934456" y="1746504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今日行动卡: 主线一句话 + 可点的开始按钮 + 4 个内联 KPI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806440" y="2084832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34456" y="206654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 Plotly 图表同尺寸同位置纵向堆叠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5934456" y="231343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 条 (一行五个数字) + 2 个主图, 其余进 &lt;details&gt; 折叠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5806440" y="2651760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34456" y="2633472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薄弱知识点只给百分比和一条橙条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5934456" y="2880360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加掌握度总览色环, 薄弱 Top 3 带题量并可直接跳错题本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806440" y="3218688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34456" y="32004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点图表色条才能进错题本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5934456" y="344728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今日复习队列: 每题带缩略图和推荐理由, 逾期/到期/星标分色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806440" y="382219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34456" y="3867912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后端数据已够用 -- stats 已返回 due / weak_tags / streak / mastered, 重排不需改契约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MOCKUP 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错题本: 让列表本身可扫读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筛选收进工具条, 题目用缩略图卡片, 信息分四层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7150" y="1243584"/>
            <a:ext cx="477501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pic>
        <p:nvPicPr>
          <p:cNvPr id="7" name="Image 0" descr="assets/mock-note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26" y="1280160"/>
            <a:ext cx="4701867" cy="3584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06440" y="12801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1517904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34456" y="149961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toggle + 2 个下拉 + 搜索框常驻, 占首屏约 60%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5934456" y="1746504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一行工具条: 搜索 + 视图切换 + 筛选抽屉 + 更多菜单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806440" y="2084832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34456" y="206654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当前生效的筛选条件看不出来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5934456" y="231343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 回显: 语义搜索 x  仅看待复习 x  难度:中等 x  + 添加筛选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5806440" y="2651760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34456" y="2633472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expander 标题一行塞 7 类信息, 无缩略图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5934456" y="2880360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三列卡片: 缩略图 / 标签 / 掌握度色环 / 到期状态, 四层分离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806440" y="3218688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34456" y="32004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导出三个大按钮占满一行 (低频操作)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5934456" y="344728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收进工具条右侧 ... 菜单; 批量操作改为常驻底部操作条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806440" y="3785616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34456" y="3767328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分页器在列表上方, 视线要来回跳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5934456" y="4014216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分页移到列表下方, 并显示命中数量与每页条数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5806440" y="438912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34456" y="443484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的 st.image 无法 hover 出操作层, 勾选框需另想办法 -- 这是该页最大的落地约束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MOCKUP 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今日复习: 专注模式 + 优雅降级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 P0 事故的现场 -- 这一页的改动优先级最高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64476" y="1243584"/>
            <a:ext cx="36603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pic>
        <p:nvPicPr>
          <p:cNvPr id="7" name="Image 0" descr="assets/mock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052" y="1280160"/>
            <a:ext cx="3587216" cy="3584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06440" y="12801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1517904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34456" y="149961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图片读取失败时整个 traceback 渲染到闪卡上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5934456" y="1746504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error_card 降级: 切到 OCR 文本继续复习, 附折叠的原始异常供排查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806440" y="2084832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34456" y="206654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顶部只有一个孤零零的数字 18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5934456" y="231343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进度条 + 本轮已评计数, 3 / 18 的位置感明确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5806440" y="2651760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34456" y="2633472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评分按钮只有表情和文字, 决策成本高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5934456" y="2880360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每个按钮直接预告下次复习时间: 明天 / 2 天后 / 6 天后 / 16 天后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806440" y="3218688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34456" y="32004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 reveal 时评分区整块塌陷, 翻页时页面高度剧烈跳动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5934456" y="344728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按钮区位置固定, 图与解析区切换高度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806440" y="3785616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34456" y="3767328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进度条首题显示 0%, 与旁边的 1 / N 自相矛盾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5934456" y="4014216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进度按已完成数计算, 首题即为 1/N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5806440" y="438912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34456" y="443484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SM-2 的 next_schedule 后端已经存在, 评分预览只是把它提到渲染层 -- 不需要新接口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MOCKUP 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录题: 让主入口值得更多视觉权重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这是用户使用频次最高的动作, 现在却是一个 40px 的原生控件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34937" y="1243584"/>
            <a:ext cx="4319445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pic>
        <p:nvPicPr>
          <p:cNvPr id="7" name="Image 0" descr="assets/mock-tu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513" y="1280160"/>
            <a:ext cx="4246293" cy="3584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06440" y="12801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1517904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34456" y="149961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上传控件是 40px 高的原生 file_uploader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5934456" y="1746504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大面积拖拽区, 明确写清格式与大小限制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806440" y="2084832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34456" y="206654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解析结果是一整块 Markdown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5934456" y="231343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五段结构化结果卡: 考点 / 讲解 / 答案 / 易错 / 举一反三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5806440" y="2651760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34456" y="2633472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解析中只在局部重建, 刷新或切页结果全丢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5934456" y="2880360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逐题状态缩略图: 已解析 / 解析中 62%, 进度可见可恢复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806440" y="3218688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34456" y="32004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tutor.py:205 的 st.image 没有 exists 检查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5934456" y="344728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解析结果原图同样走 error_card 降级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806440" y="3785616"/>
            <a:ext cx="41148" cy="493776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34456" y="3767328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tab 下大片留白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5934456" y="4014216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6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左右两栏: 上传与选项在左, 状态与结果在右, 屏幕利用率翻倍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5806440" y="438912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34456" y="443484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解析结果本就是固定的五段结构, 拆成卡片不需要改后端 schema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NAVIGATION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侧边栏: 从 9 项平铺到三组分层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每一组回答一个问题: 今天做什么 / 我在学什么 / 还能看什么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794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444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项平铺, 0 个分组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3429000" cy="237744"/>
          </a:xfrm>
          <a:prstGeom prst="rect">
            <a:avLst/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847088"/>
            <a:ext cx="6400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7556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学情看板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029968"/>
            <a:ext cx="342900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2121408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0299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录题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2304288"/>
            <a:ext cx="342900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2395728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3042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2578608"/>
            <a:ext cx="342900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2670048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5786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今日复习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2852928"/>
            <a:ext cx="342900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2944368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28529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学生总览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3127248"/>
            <a:ext cx="342900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3218688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127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" y="3401568"/>
            <a:ext cx="342900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3493008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34015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能力画像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" y="3675888"/>
            <a:ext cx="342900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" y="3767328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36758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助手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0080" y="3950208"/>
            <a:ext cx="342900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" y="4041648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39502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83280" y="39502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0080" y="42976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核心动作 (AI 录题) 与低频操作 (设置) 权重相同, 且没有"今天要做多少"的入口.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1325880"/>
            <a:ext cx="3749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4447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9320" y="1444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组分层 + 待办红点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92040" y="17556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92040" y="1938528"/>
            <a:ext cx="3383280" cy="246888"/>
          </a:xfrm>
          <a:prstGeom prst="rect">
            <a:avLst/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0056" y="2029968"/>
            <a:ext cx="6400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84648" y="193852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学情看板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92040" y="2221992"/>
            <a:ext cx="338328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0056" y="2313432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84648" y="222199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今日复习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772400" y="2276856"/>
            <a:ext cx="384048" cy="155448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0" y="227685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892040" y="25511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92040" y="2734056"/>
            <a:ext cx="338328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0056" y="2825496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84648" y="273405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录题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92040" y="3017520"/>
            <a:ext cx="338328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0056" y="3108960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84648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92040" y="3300984"/>
            <a:ext cx="338328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0056" y="3392424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84648" y="330098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能力画像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92040" y="36301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892040" y="3813048"/>
            <a:ext cx="338328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0056" y="3904488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84648" y="38130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92040" y="4096512"/>
            <a:ext cx="338328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0056" y="4187952"/>
            <a:ext cx="640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84648" y="409651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助手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09160" y="4681728"/>
            <a:ext cx="3383280" cy="329184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46817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设置与用户头像固定在底部; 教师专属的学生总览插在学习组之后.</a:t>
            </a:r>
            <a:endParaRPr lang="en-US" sz="760" dirty="0"/>
          </a:p>
        </p:txBody>
      </p:sp>
      <p:sp>
        <p:nvSpPr>
          <p:cNvPr id="69" name="Shape 67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C5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383280" y="1965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落地路径与风险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83280" y="2606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六批改动, 每批都能独立发布, 互不阻塞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0F1F3A"/>
          </a:solidFill>
          <a:ln w="9525">
            <a:solidFill>
              <a:srgbClr val="2C5A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六批落地路径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每批都能独立发布, 第一批当天就能合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5146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1790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9264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32304" y="1536192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5361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18653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review.py / tutor.py / 全站 service 调用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1792" y="2084832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 safe_call 包装与 error_card 降级组件; 图片路径改存相对路径. 纯防御性代码, 不动任何视觉.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154680" y="1353312"/>
            <a:ext cx="25146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353312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9272" y="151790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66744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9784" y="1536192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784" y="15361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9272" y="18653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style.css / theme.py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19272" y="2084832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 变量化 + 三档掌握度语义色 + 深色模式改变量对. 不碰页面逻辑, 收益立竿见影.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852160" y="1353312"/>
            <a:ext cx="25146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1353312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16752" y="151790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64224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原语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827264" y="1536192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27264" y="15361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16752" y="18653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common.py / components.py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016752" y="2084832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badge / empty_state / stat_card, 抽出单一 mastery_color(). 做完这步再逐页改才不漏.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457200" y="3127248"/>
            <a:ext cx="25146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127248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3291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9264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432304" y="3310128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32304" y="331012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1792" y="3639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app.py / nav.py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" y="385876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侧边栏按今天/学习/探索分组, 今日复习带待办数字. 需新增一个 due 计数查询.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3154680" y="3127248"/>
            <a:ext cx="25146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154680" y="3127248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19272" y="3291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927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66744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129784" y="3310128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9784" y="331012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19272" y="3639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/ review / tutor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319272" y="385876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看板行动卡与 metric 条; 复习页错误边界与评分预览; 录题页结构化结果卡.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5852160" y="3127248"/>
            <a:ext cx="25146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52160" y="3127248"/>
            <a:ext cx="2514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16752" y="3291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675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64224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827264" y="3310128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27264" y="331012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016752" y="3639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notebook.py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016752" y="385876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卡片网格 + 工具条 + 常驻批量操作条. 需要新的卡片渲染函数, 改动最重但收益最大.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RISKS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风险与边界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的能力边界, 以及本方案明确不改的东西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623560" cy="274320"/>
          </a:xfrm>
          <a:prstGeom prst="rect">
            <a:avLst/>
          </a:prstGeom>
          <a:solidFill>
            <a:srgbClr val="162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6888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影响与对策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6235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09344"/>
            <a:ext cx="457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60934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st.image 没有 hover 层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68880" y="160934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卡片上的操作按钮无法像 Web 那样悬浮出现, 需要换交互方式或退回 st.checkbox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56235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21408"/>
            <a:ext cx="457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214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position: sticky 不可靠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68880" y="212140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底部常驻批量操作条在 Streamlit 容器里可能失效, 或需 components.html 模拟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6235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33472"/>
            <a:ext cx="457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6334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卡片点击展开详情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68880" y="263347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网格视图下原位展开会让页面高度剧烈跳动, 建议点卡片跳独立详情页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57200" y="3145536"/>
            <a:ext cx="56235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45536"/>
            <a:ext cx="457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14553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前端零单测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68880" y="31455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 E2E 冒烟不足以保护一次大改版, 建议先给跨页原语补最小单测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56235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57600"/>
            <a:ext cx="457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657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 处 HTML 字符串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68880" y="36576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换渲染管线时必须一次性收口, 否则改版会逐个漏改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57200" y="4169664"/>
            <a:ext cx="56235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69664"/>
            <a:ext cx="457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1696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两套掌握度口径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68880" y="416966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看板启发式与引擎口径并存, 界面上会自相矛盾, 需先决定以哪套为准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263640" y="1298448"/>
            <a:ext cx="2240280" cy="329184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1F2937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1298448"/>
            <a:ext cx="22402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1463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本方案不改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改版只动界面层, 以下边界保持不变: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46520" y="2157984"/>
            <a:ext cx="1920240" cy="3657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2157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不改后端 service 契约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446520" y="2596896"/>
            <a:ext cx="1920240" cy="3657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2596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不改数据库 schema 与迁移链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446520" y="3035808"/>
            <a:ext cx="1920240" cy="3657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3035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 AI provider 抽象层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446520" y="3474720"/>
            <a:ext cx="1920240" cy="3657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不动 RAG 检索与融合逻辑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446520" y="3913632"/>
            <a:ext cx="1920240" cy="3657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3913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不删任何现有功能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66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338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建议先做与视觉无关的那一批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2514600" cy="1481328"/>
          </a:xfrm>
          <a:prstGeom prst="roundRect">
            <a:avLst>
              <a:gd name="adj" fmla="val 3704"/>
            </a:avLst>
          </a:prstGeom>
          <a:solidFill>
            <a:srgbClr val="2A1620"/>
          </a:solidFill>
          <a:ln w="9525">
            <a:solidFill>
              <a:srgbClr val="FF9B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73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 P0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A9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错误边界 + 图片相对路径. 纯防御性代码, 当天可合, 与视觉改版完全解耦.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83280" y="1627632"/>
            <a:ext cx="2514600" cy="1481328"/>
          </a:xfrm>
          <a:prstGeom prst="roundRect">
            <a:avLst>
              <a:gd name="adj" fmla="val 3704"/>
            </a:avLst>
          </a:prstGeom>
          <a:solidFill>
            <a:srgbClr val="2A2314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73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再评审成品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35915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A9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四张 mockup 逐页确认交互细节, 尤其是错题本卡片网格的落地方式.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627632"/>
            <a:ext cx="2514600" cy="1481328"/>
          </a:xfrm>
          <a:prstGeom prst="roundRect">
            <a:avLst>
              <a:gd name="adj" fmla="val 3704"/>
            </a:avLst>
          </a:prstGeom>
          <a:solidFill>
            <a:srgbClr val="102A22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73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最后动代码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35915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A9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按六批路径推进, 每批独立发布, 不做大爆炸式改版.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需要你拍板的三个问题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3776472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85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看板与引擎两套掌握度口径, 界面上以哪套为准?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4123944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325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错题本卡片点击后, 原位展开还是跳独立详情页?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4471416"/>
            <a:ext cx="64008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3799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是否给前端跨页原语补最小单测, 作为改版的回归保护?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solidFill>
            <a:srgbClr val="0F1F3A"/>
          </a:solidFill>
          <a:ln w="9525">
            <a:solidFill>
              <a:srgbClr val="2C5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MathMaster 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MathMaster Edu 界面重设计方案 v1.0</dc:title>
  <dc:subject>信息架构 / 视觉层级 / 交互密度 重做方案</dc:subject>
  <dc:creator>Mavis</dc:creator>
  <cp:lastModifiedBy>Mavis</cp:lastModifiedBy>
  <cp:revision>1</cp:revision>
  <dcterms:created xsi:type="dcterms:W3CDTF">2026-10-01T12:14:36Z</dcterms:created>
  <dcterms:modified xsi:type="dcterms:W3CDTF">2026-10-01T12:14:36Z</dcterms:modified>
</cp:coreProperties>
</file>